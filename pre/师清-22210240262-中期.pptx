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11090203" r:id="rId5"/>
    <p:sldId id="15000297" r:id="rId6"/>
    <p:sldId id="15000298" r:id="rId7"/>
    <p:sldId id="15000324" r:id="rId8"/>
    <p:sldId id="15000299" r:id="rId9"/>
    <p:sldId id="15000302" r:id="rId10"/>
    <p:sldId id="15000303" r:id="rId11"/>
    <p:sldId id="15000304" r:id="rId12"/>
    <p:sldId id="15000305" r:id="rId13"/>
    <p:sldId id="15000306" r:id="rId14"/>
    <p:sldId id="15000307" r:id="rId15"/>
    <p:sldId id="15000308" r:id="rId16"/>
    <p:sldId id="15000309" r:id="rId17"/>
    <p:sldId id="15000310" r:id="rId18"/>
    <p:sldId id="15000311" r:id="rId19"/>
    <p:sldId id="15000312" r:id="rId20"/>
    <p:sldId id="15000317" r:id="rId21"/>
    <p:sldId id="15000319" r:id="rId22"/>
    <p:sldId id="15000320" r:id="rId23"/>
    <p:sldId id="15000323" r:id="rId24"/>
    <p:sldId id="15000321" r:id="rId2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1pPr>
    <a:lvl2pPr marL="17145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2pPr>
    <a:lvl3pPr marL="34290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3pPr>
    <a:lvl4pPr marL="51435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4pPr>
    <a:lvl5pPr marL="68580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5pPr>
    <a:lvl6pPr marL="857250" algn="l" defTabSz="342900" rtl="0" eaLnBrk="1" latinLnBrk="0" hangingPunct="1">
      <a:defRPr kern="1200">
        <a:solidFill>
          <a:schemeClr val="tx1"/>
        </a:solidFill>
        <a:latin typeface="Arial" panose="02080604020202020204" pitchFamily="34" charset="0"/>
        <a:ea typeface="+mn-ea"/>
        <a:cs typeface="Arial" panose="02080604020202020204" pitchFamily="34" charset="0"/>
      </a:defRPr>
    </a:lvl6pPr>
    <a:lvl7pPr marL="1028700" algn="l" defTabSz="342900" rtl="0" eaLnBrk="1" latinLnBrk="0" hangingPunct="1">
      <a:defRPr kern="1200">
        <a:solidFill>
          <a:schemeClr val="tx1"/>
        </a:solidFill>
        <a:latin typeface="Arial" panose="02080604020202020204" pitchFamily="34" charset="0"/>
        <a:ea typeface="+mn-ea"/>
        <a:cs typeface="Arial" panose="02080604020202020204" pitchFamily="34" charset="0"/>
      </a:defRPr>
    </a:lvl7pPr>
    <a:lvl8pPr marL="1200150" algn="l" defTabSz="342900" rtl="0" eaLnBrk="1" latinLnBrk="0" hangingPunct="1">
      <a:defRPr kern="1200">
        <a:solidFill>
          <a:schemeClr val="tx1"/>
        </a:solidFill>
        <a:latin typeface="Arial" panose="02080604020202020204" pitchFamily="34" charset="0"/>
        <a:ea typeface="+mn-ea"/>
        <a:cs typeface="Arial" panose="02080604020202020204" pitchFamily="34" charset="0"/>
      </a:defRPr>
    </a:lvl8pPr>
    <a:lvl9pPr marL="1371600" algn="l" defTabSz="342900" rtl="0" eaLnBrk="1" latinLnBrk="0" hangingPunct="1">
      <a:defRPr kern="1200">
        <a:solidFill>
          <a:schemeClr val="tx1"/>
        </a:solidFill>
        <a:latin typeface="Arial" panose="02080604020202020204" pitchFamily="34" charset="0"/>
        <a:ea typeface="+mn-ea"/>
        <a:cs typeface="Arial" panose="02080604020202020204" pitchFamily="34"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 Xiangyang" initials="XX"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B641B"/>
    <a:srgbClr val="FF6406"/>
    <a:srgbClr val="333333"/>
    <a:srgbClr val="3366FF"/>
    <a:srgbClr val="284685"/>
    <a:srgbClr val="28ABA3"/>
    <a:srgbClr val="EB651C"/>
    <a:srgbClr val="417DB9"/>
    <a:srgbClr val="00B0FF"/>
    <a:srgbClr val="116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81" autoAdjust="0"/>
    <p:restoredTop sz="79877" autoAdjust="0"/>
  </p:normalViewPr>
  <p:slideViewPr>
    <p:cSldViewPr>
      <p:cViewPr varScale="1">
        <p:scale>
          <a:sx n="65" d="100"/>
          <a:sy n="65" d="100"/>
        </p:scale>
        <p:origin x="708" y="31"/>
      </p:cViewPr>
      <p:guideLst>
        <p:guide orient="horz" pos="2214"/>
        <p:guide pos="3910"/>
      </p:guideLst>
    </p:cSldViewPr>
  </p:slideViewPr>
  <p:outlineViewPr>
    <p:cViewPr>
      <p:scale>
        <a:sx n="33" d="100"/>
        <a:sy n="33" d="100"/>
      </p:scale>
      <p:origin x="0" y="-14592"/>
    </p:cViewPr>
  </p:outlineViewPr>
  <p:notesTextViewPr>
    <p:cViewPr>
      <p:scale>
        <a:sx n="100" d="100"/>
        <a:sy n="100" d="100"/>
      </p:scale>
      <p:origin x="0" y="0"/>
    </p:cViewPr>
  </p:notesTextViewPr>
  <p:sorterViewPr>
    <p:cViewPr varScale="1">
      <p:scale>
        <a:sx n="1" d="1"/>
        <a:sy n="1" d="1"/>
      </p:scale>
      <p:origin x="0" y="-48024"/>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 min="-2" units="cm"/>
          <inkml:channel name="Y" type="integer" max="2" min="-2"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1-08T08:52:54"/>
    </inkml:context>
    <inkml:brush xml:id="br0">
      <inkml:brushProperty name="width" value="0.05" units="cm"/>
      <inkml:brushProperty name="height" value="0.05" units="cm"/>
      <inkml:brushProperty name="color" value="#e71224"/>
    </inkml:brush>
  </inkml:definitions>
  <inkml:trace contextRef="#ctx0" brushRef="#br0">206 1 17359 0 0,'-76'21'768'0'0,"48"-16"160"0"0,9-5-736 0 0,-9-5-192 0 0,-2 5 0 0 0,6 0 0 0 0,24 0-960 0 0,0 0-232 0 0,0 0-47 0 0,0 0-9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eaLnBrk="1" hangingPunct="1">
              <a:defRPr sz="1200">
                <a:latin typeface="Calibri" panose="020F0502020204030204" pitchFamily="34" charset="0"/>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eaLnBrk="1" hangingPunct="1">
              <a:defRPr sz="1200">
                <a:latin typeface="Calibri" panose="020F0502020204030204" pitchFamily="34" charset="0"/>
              </a:defRPr>
            </a:lvl1pPr>
          </a:lstStyle>
          <a:p>
            <a:pPr>
              <a:defRPr/>
            </a:pPr>
            <a:fld id="{683E5292-C197-4B29-8ABD-C7AEB5E0B154}" type="datetimeFigureOut">
              <a:rPr lang="en-US" altLang="zh-CN"/>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eaLnBrk="1" hangingPunct="1">
              <a:defRPr sz="1200">
                <a:latin typeface="Calibri" panose="020F0502020204030204" pitchFamily="34" charset="0"/>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B4C119E0-CEE4-4FF8-83B2-DC856A2C17CC}"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
        <p:nvSpPr>
          <p:cNvPr id="4" name="Rectangle 10"/>
          <p:cNvSpPr/>
          <p:nvPr/>
        </p:nvSpPr>
        <p:spPr>
          <a:xfrm>
            <a:off x="999067" y="2438404"/>
            <a:ext cx="9753600" cy="1956197"/>
          </a:xfrm>
          <a:prstGeom prst="rect">
            <a:avLst/>
          </a:prstGeom>
          <a:noFill/>
          <a:ln w="19050" cap="rnd" cmpd="sng" algn="ctr">
            <a:solidFill>
              <a:srgbClr val="EB641B"/>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600">
              <a:solidFill>
                <a:srgbClr val="000000"/>
              </a:solidFill>
              <a:latin typeface="+mn-lt"/>
              <a:ea typeface="+mn-ea"/>
            </a:endParaRPr>
          </a:p>
        </p:txBody>
      </p:sp>
      <p:sp>
        <p:nvSpPr>
          <p:cNvPr id="6" name="Rectangle 14"/>
          <p:cNvSpPr/>
          <p:nvPr/>
        </p:nvSpPr>
        <p:spPr>
          <a:xfrm>
            <a:off x="999067" y="2438404"/>
            <a:ext cx="304800" cy="1956197"/>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600">
              <a:solidFill>
                <a:srgbClr val="000000"/>
              </a:solidFill>
              <a:latin typeface="+mn-lt"/>
              <a:ea typeface="+mn-ea"/>
            </a:endParaRPr>
          </a:p>
        </p:txBody>
      </p:sp>
      <p:sp>
        <p:nvSpPr>
          <p:cNvPr id="8" name="Title 7"/>
          <p:cNvSpPr>
            <a:spLocks noGrp="1"/>
          </p:cNvSpPr>
          <p:nvPr>
            <p:ph type="ctrTitle"/>
          </p:nvPr>
        </p:nvSpPr>
        <p:spPr>
          <a:xfrm>
            <a:off x="1418167" y="2676528"/>
            <a:ext cx="9144000" cy="1514475"/>
          </a:xfrm>
        </p:spPr>
        <p:txBody>
          <a:bodyPr anchor="ctr"/>
          <a:lstStyle>
            <a:lvl1pPr algn="ctr">
              <a:defRPr sz="3200" b="0">
                <a:solidFill>
                  <a:srgbClr val="000000"/>
                </a:solidFill>
                <a:latin typeface="+mn-lt"/>
                <a:ea typeface="+mn-ea"/>
              </a:defRPr>
            </a:lvl1pPr>
          </a:lstStyle>
          <a:p>
            <a:r>
              <a:rPr lang="zh-CN" altLang="en-US"/>
              <a:t>单击此处编辑母版标题样式</a:t>
            </a:r>
            <a:endParaRPr lang="en-US" dirty="0"/>
          </a:p>
        </p:txBody>
      </p:sp>
      <p:sp>
        <p:nvSpPr>
          <p:cNvPr id="9" name="Subtitle 8"/>
          <p:cNvSpPr>
            <a:spLocks noGrp="1"/>
          </p:cNvSpPr>
          <p:nvPr>
            <p:ph type="subTitle" idx="1"/>
          </p:nvPr>
        </p:nvSpPr>
        <p:spPr>
          <a:xfrm>
            <a:off x="563006" y="575779"/>
            <a:ext cx="4502562" cy="629565"/>
          </a:xfrm>
          <a:ln w="9525">
            <a:solidFill>
              <a:srgbClr val="EB641B"/>
            </a:solidFill>
          </a:ln>
        </p:spPr>
        <p:txBody>
          <a:bodyPr wrap="square" anchor="ctr"/>
          <a:lstStyle>
            <a:lvl1pPr marL="0" indent="0" algn="ctr">
              <a:buNone/>
              <a:defRPr sz="1600">
                <a:solidFill>
                  <a:srgbClr val="000000"/>
                </a:solidFill>
                <a:latin typeface="+mn-lt"/>
                <a:ea typeface="+mn-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zh-CN" altLang="en-US"/>
              <a:t>单击此处编辑母版副标题样式</a:t>
            </a:r>
            <a:endParaRPr lang="en-US" dirty="0"/>
          </a:p>
        </p:txBody>
      </p:sp>
      <p:pic>
        <p:nvPicPr>
          <p:cNvPr id="13" name="图片 1"/>
          <p:cNvPicPr>
            <a:picLocks noChangeAspect="1"/>
          </p:cNvPicPr>
          <p:nvPr/>
        </p:nvPicPr>
        <p:blipFill>
          <a:blip r:embed="rId2" cstate="screen"/>
          <a:srcRect/>
          <a:stretch>
            <a:fillRect/>
          </a:stretch>
        </p:blipFill>
        <p:spPr bwMode="auto">
          <a:xfrm>
            <a:off x="9372905" y="665099"/>
            <a:ext cx="1630883" cy="719623"/>
          </a:xfrm>
          <a:prstGeom prst="rect">
            <a:avLst/>
          </a:prstGeom>
          <a:noFill/>
          <a:ln>
            <a:noFill/>
          </a:ln>
        </p:spPr>
      </p:pic>
      <p:sp>
        <p:nvSpPr>
          <p:cNvPr id="25" name="Text Placeholder 24"/>
          <p:cNvSpPr>
            <a:spLocks noGrp="1"/>
          </p:cNvSpPr>
          <p:nvPr>
            <p:ph type="body" sz="quarter" idx="10" hasCustomPrompt="1"/>
          </p:nvPr>
        </p:nvSpPr>
        <p:spPr>
          <a:xfrm>
            <a:off x="2946403" y="4800600"/>
            <a:ext cx="6737351" cy="1600200"/>
          </a:xfrm>
        </p:spPr>
        <p:txBody>
          <a:bodyPr/>
          <a:lstStyle>
            <a:lvl1pPr marL="0" indent="0" algn="ctr">
              <a:buNone/>
              <a:defRPr sz="1865">
                <a:solidFill>
                  <a:srgbClr val="000000"/>
                </a:solidFill>
                <a:latin typeface="+mn-lt"/>
                <a:ea typeface="+mn-ea"/>
              </a:defRPr>
            </a:lvl1pPr>
          </a:lstStyle>
          <a:p>
            <a:pPr lvl="0"/>
            <a:r>
              <a:rPr lang="zh-CN" altLang="en-US"/>
              <a:t>编辑母版文本样式</a:t>
            </a:r>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section">
    <p:spTree>
      <p:nvGrpSpPr>
        <p:cNvPr id="1" name=""/>
        <p:cNvGrpSpPr/>
        <p:nvPr/>
      </p:nvGrpSpPr>
      <p:grpSpPr>
        <a:xfrm>
          <a:off x="0" y="0"/>
          <a:ext cx="0" cy="0"/>
          <a:chOff x="0" y="0"/>
          <a:chExt cx="0" cy="0"/>
        </a:xfrm>
      </p:grpSpPr>
      <p:sp>
        <p:nvSpPr>
          <p:cNvPr id="11" name="Rectangle 10"/>
          <p:cNvSpPr/>
          <p:nvPr/>
        </p:nvSpPr>
        <p:spPr>
          <a:xfrm>
            <a:off x="999067" y="2438404"/>
            <a:ext cx="9753600" cy="1956197"/>
          </a:xfrm>
          <a:prstGeom prst="rect">
            <a:avLst/>
          </a:prstGeom>
          <a:noFill/>
          <a:ln w="6350" cap="rnd" cmpd="sng" algn="ctr">
            <a:solidFill>
              <a:srgbClr val="EB641B"/>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600">
              <a:solidFill>
                <a:srgbClr val="000000"/>
              </a:solidFill>
              <a:latin typeface="+mn-lt"/>
              <a:ea typeface="+mn-ea"/>
            </a:endParaRPr>
          </a:p>
        </p:txBody>
      </p:sp>
      <p:sp>
        <p:nvSpPr>
          <p:cNvPr id="12" name="Rectangle 14"/>
          <p:cNvSpPr/>
          <p:nvPr/>
        </p:nvSpPr>
        <p:spPr>
          <a:xfrm>
            <a:off x="999067" y="2438404"/>
            <a:ext cx="304800" cy="1956197"/>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600">
              <a:solidFill>
                <a:srgbClr val="000000"/>
              </a:solidFill>
              <a:latin typeface="+mn-lt"/>
              <a:ea typeface="+mn-ea"/>
            </a:endParaRPr>
          </a:p>
        </p:txBody>
      </p:sp>
      <p:sp>
        <p:nvSpPr>
          <p:cNvPr id="13" name="Title 7"/>
          <p:cNvSpPr>
            <a:spLocks noGrp="1"/>
          </p:cNvSpPr>
          <p:nvPr>
            <p:ph type="ctrTitle"/>
          </p:nvPr>
        </p:nvSpPr>
        <p:spPr>
          <a:xfrm>
            <a:off x="1418167" y="2676528"/>
            <a:ext cx="9144000" cy="1514475"/>
          </a:xfrm>
        </p:spPr>
        <p:txBody>
          <a:bodyPr anchor="ctr"/>
          <a:lstStyle>
            <a:lvl1pPr algn="ctr">
              <a:defRPr sz="3200" b="0">
                <a:solidFill>
                  <a:srgbClr val="000000"/>
                </a:solidFill>
                <a:latin typeface="+mn-lt"/>
                <a:ea typeface="+mn-ea"/>
              </a:defRPr>
            </a:lvl1pPr>
          </a:lstStyle>
          <a:p>
            <a:r>
              <a:rPr lang="zh-CN" altLang="en-US"/>
              <a:t>单击此处编辑母版标题样式</a:t>
            </a:r>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mj-lt"/>
                <a:ea typeface="+mj-ea"/>
              </a:defRPr>
            </a:lvl1pPr>
          </a:lstStyle>
          <a:p>
            <a:r>
              <a:rPr lang="zh-CN" altLang="en-US"/>
              <a:t>单击此处编辑母版标题样式</a:t>
            </a:r>
            <a:endParaRPr lang="en-US" dirty="0"/>
          </a:p>
        </p:txBody>
      </p:sp>
      <p:sp>
        <p:nvSpPr>
          <p:cNvPr id="8" name="Content Placeholder 7"/>
          <p:cNvSpPr>
            <a:spLocks noGrp="1"/>
          </p:cNvSpPr>
          <p:nvPr>
            <p:ph sz="quarter" idx="1"/>
          </p:nvPr>
        </p:nvSpPr>
        <p:spPr>
          <a:xfrm>
            <a:off x="609600" y="990600"/>
            <a:ext cx="10972800" cy="5546678"/>
          </a:xfrm>
        </p:spPr>
        <p:txBody>
          <a:bodyPr/>
          <a:lstStyle>
            <a:lvl1pPr>
              <a:defRPr baseline="0">
                <a:latin typeface="+mn-lt"/>
                <a:ea typeface="华文楷体" panose="02010600040101010101" pitchFamily="2" charset="-122"/>
              </a:defRPr>
            </a:lvl1pPr>
            <a:lvl2pPr>
              <a:defRPr baseline="0">
                <a:latin typeface="+mn-lt"/>
                <a:ea typeface="华文楷体" panose="02010600040101010101" pitchFamily="2" charset="-122"/>
              </a:defRPr>
            </a:lvl2pPr>
            <a:lvl3pPr>
              <a:defRPr baseline="0">
                <a:latin typeface="+mn-lt"/>
                <a:ea typeface="华文楷体" panose="02010600040101010101" pitchFamily="2" charset="-122"/>
              </a:defRPr>
            </a:lvl3pPr>
            <a:lvl4pPr>
              <a:defRPr baseline="0">
                <a:latin typeface="+mn-lt"/>
                <a:ea typeface="华文楷体" panose="02010600040101010101" pitchFamily="2" charset="-122"/>
              </a:defRPr>
            </a:lvl4pPr>
            <a:lvl5pPr>
              <a:defRPr baseline="0">
                <a:latin typeface="+mn-lt"/>
                <a:ea typeface="华文楷体" panose="02010600040101010101" pitchFamily="2" charset="-122"/>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和内容-r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mj-lt"/>
                <a:ea typeface="+mj-ea"/>
              </a:defRPr>
            </a:lvl1pPr>
          </a:lstStyle>
          <a:p>
            <a:r>
              <a:rPr lang="zh-CN" altLang="en-US"/>
              <a:t>单击此处编辑母版标题样式</a:t>
            </a:r>
            <a:endParaRPr lang="en-US" dirty="0"/>
          </a:p>
        </p:txBody>
      </p:sp>
      <p:sp>
        <p:nvSpPr>
          <p:cNvPr id="6" name="Content Placeholder 7"/>
          <p:cNvSpPr>
            <a:spLocks noGrp="1"/>
          </p:cNvSpPr>
          <p:nvPr>
            <p:ph sz="quarter" idx="1"/>
          </p:nvPr>
        </p:nvSpPr>
        <p:spPr>
          <a:xfrm>
            <a:off x="609600" y="990600"/>
            <a:ext cx="10972800" cy="5091752"/>
          </a:xfrm>
        </p:spPr>
        <p:txBody>
          <a:bodyPr/>
          <a:lstStyle>
            <a:lvl1pPr>
              <a:defRPr baseline="0">
                <a:latin typeface="+mn-lt"/>
                <a:ea typeface="华文楷体" panose="02010600040101010101" pitchFamily="2" charset="-122"/>
              </a:defRPr>
            </a:lvl1pPr>
            <a:lvl2pPr>
              <a:defRPr baseline="0">
                <a:latin typeface="+mn-lt"/>
                <a:ea typeface="华文楷体" panose="02010600040101010101" pitchFamily="2" charset="-122"/>
              </a:defRPr>
            </a:lvl2pPr>
            <a:lvl3pPr>
              <a:defRPr baseline="0">
                <a:latin typeface="+mn-lt"/>
                <a:ea typeface="华文楷体" panose="02010600040101010101" pitchFamily="2" charset="-122"/>
              </a:defRPr>
            </a:lvl3pPr>
            <a:lvl4pPr>
              <a:defRPr baseline="0">
                <a:latin typeface="+mn-lt"/>
                <a:ea typeface="华文楷体" panose="02010600040101010101" pitchFamily="2" charset="-122"/>
              </a:defRPr>
            </a:lvl4pPr>
            <a:lvl5pPr>
              <a:defRPr baseline="0">
                <a:latin typeface="+mn-lt"/>
                <a:ea typeface="华文楷体" panose="02010600040101010101" pitchFamily="2" charset="-122"/>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sp>
        <p:nvSpPr>
          <p:cNvPr id="9" name="文本占位符 10"/>
          <p:cNvSpPr>
            <a:spLocks noGrp="1"/>
          </p:cNvSpPr>
          <p:nvPr>
            <p:ph type="body" sz="quarter" idx="10" hasCustomPrompt="1"/>
          </p:nvPr>
        </p:nvSpPr>
        <p:spPr>
          <a:xfrm>
            <a:off x="609602" y="6200633"/>
            <a:ext cx="10896591" cy="369630"/>
          </a:xfrm>
        </p:spPr>
        <p:txBody>
          <a:bodyPr anchor="ctr"/>
          <a:lstStyle>
            <a:lvl1pPr marL="0" indent="0">
              <a:buNone/>
              <a:defRPr sz="1400" i="1">
                <a:solidFill>
                  <a:schemeClr val="tx2">
                    <a:lumMod val="50000"/>
                  </a:schemeClr>
                </a:solidFill>
                <a:latin typeface="Times New Roman" panose="02020603050405020304" pitchFamily="18" charset="0"/>
                <a:cs typeface="Times New Roman" panose="02020603050405020304" pitchFamily="18" charset="0"/>
              </a:defRPr>
            </a:lvl1pPr>
          </a:lstStyle>
          <a:p>
            <a:pPr lvl="0"/>
            <a:r>
              <a:rPr lang="en-US" altLang="zh-CN" dirty="0"/>
              <a:t>Click to edit</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r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mj-lt"/>
                <a:ea typeface="+mj-ea"/>
              </a:defRPr>
            </a:lvl1pPr>
          </a:lstStyle>
          <a:p>
            <a:r>
              <a:rPr lang="zh-CN" altLang="en-US"/>
              <a:t>单击此处编辑母版标题样式</a:t>
            </a:r>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empty">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B5A6BFC-2A1B-4612-A49A-7EA37C32840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50C8A0-7216-4533-B390-5BB94554BCC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和竖排文字">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8"/>
            <a:ext cx="10363200" cy="1470025"/>
          </a:xfrm>
        </p:spPr>
        <p:txBody>
          <a:bodyPr/>
          <a:lstStyle/>
          <a:p>
            <a:r>
              <a:rPr lang="zh-CN" altLang="en-US"/>
              <a:t>单击此处编辑母版标题样式</a:t>
            </a:r>
            <a:endParaRPr lang="en-US"/>
          </a:p>
        </p:txBody>
      </p:sp>
      <p:sp>
        <p:nvSpPr>
          <p:cNvPr id="3" name="Subtitle 2"/>
          <p:cNvSpPr>
            <a:spLocks noGrp="1"/>
          </p:cNvSpPr>
          <p:nvPr>
            <p:ph type="subTitle" idx="1"/>
          </p:nvPr>
        </p:nvSpPr>
        <p:spPr>
          <a:xfrm>
            <a:off x="1828801" y="3886200"/>
            <a:ext cx="8534400" cy="1752600"/>
          </a:xfrm>
          <a:prstGeom prst="rect">
            <a:avLst/>
          </a:prstGeom>
        </p:spPr>
        <p:txBody>
          <a:bodyPr lIns="91334" tIns="45666" rIns="91334" bIns="45666"/>
          <a:lstStyle>
            <a:lvl1pPr marL="0" indent="0" algn="ctr">
              <a:buNone/>
              <a:defRPr>
                <a:solidFill>
                  <a:schemeClr val="tx1">
                    <a:tint val="75000"/>
                  </a:schemeClr>
                </a:solidFill>
              </a:defRPr>
            </a:lvl1pPr>
            <a:lvl2pPr marL="608965" indent="0" algn="ctr">
              <a:buNone/>
              <a:defRPr>
                <a:solidFill>
                  <a:schemeClr val="tx1">
                    <a:tint val="75000"/>
                  </a:schemeClr>
                </a:solidFill>
              </a:defRPr>
            </a:lvl2pPr>
            <a:lvl3pPr marL="1217930" indent="0" algn="ctr">
              <a:buNone/>
              <a:defRPr>
                <a:solidFill>
                  <a:schemeClr val="tx1">
                    <a:tint val="75000"/>
                  </a:schemeClr>
                </a:solidFill>
              </a:defRPr>
            </a:lvl3pPr>
            <a:lvl4pPr marL="1826895" indent="0" algn="ctr">
              <a:buNone/>
              <a:defRPr>
                <a:solidFill>
                  <a:schemeClr val="tx1">
                    <a:tint val="75000"/>
                  </a:schemeClr>
                </a:solidFill>
              </a:defRPr>
            </a:lvl4pPr>
            <a:lvl5pPr marL="2435860" indent="0" algn="ctr">
              <a:buNone/>
              <a:defRPr>
                <a:solidFill>
                  <a:schemeClr val="tx1">
                    <a:tint val="75000"/>
                  </a:schemeClr>
                </a:solidFill>
              </a:defRPr>
            </a:lvl5pPr>
            <a:lvl6pPr marL="3044190" indent="0" algn="ctr">
              <a:buNone/>
              <a:defRPr>
                <a:solidFill>
                  <a:schemeClr val="tx1">
                    <a:tint val="75000"/>
                  </a:schemeClr>
                </a:solidFill>
              </a:defRPr>
            </a:lvl6pPr>
            <a:lvl7pPr marL="3653155" indent="0" algn="ctr">
              <a:buNone/>
              <a:defRPr>
                <a:solidFill>
                  <a:schemeClr val="tx1">
                    <a:tint val="75000"/>
                  </a:schemeClr>
                </a:solidFill>
              </a:defRPr>
            </a:lvl7pPr>
            <a:lvl8pPr marL="4262120" indent="0" algn="ctr">
              <a:buNone/>
              <a:defRPr>
                <a:solidFill>
                  <a:schemeClr val="tx1">
                    <a:tint val="75000"/>
                  </a:schemeClr>
                </a:solidFill>
              </a:defRPr>
            </a:lvl8pPr>
            <a:lvl9pPr marL="4871085"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a:xfrm>
            <a:off x="609600" y="6356352"/>
            <a:ext cx="2844800" cy="365125"/>
          </a:xfrm>
          <a:prstGeom prst="rect">
            <a:avLst/>
          </a:prstGeom>
        </p:spPr>
        <p:txBody>
          <a:bodyPr lIns="91334" tIns="45666" rIns="91334" bIns="45666"/>
          <a:lstStyle/>
          <a:p>
            <a:fld id="{5A98150B-A5DB-4539-AF9D-806AFF02A020}" type="datetimeFigureOut">
              <a:rPr lang="en-US" smtClean="0"/>
            </a:fld>
            <a:endParaRPr lang="en-US"/>
          </a:p>
        </p:txBody>
      </p:sp>
      <p:sp>
        <p:nvSpPr>
          <p:cNvPr id="5" name="Footer Placeholder 4"/>
          <p:cNvSpPr>
            <a:spLocks noGrp="1"/>
          </p:cNvSpPr>
          <p:nvPr>
            <p:ph type="ftr" sz="quarter" idx="11"/>
          </p:nvPr>
        </p:nvSpPr>
        <p:spPr>
          <a:xfrm>
            <a:off x="4165601" y="6356352"/>
            <a:ext cx="3860800" cy="365125"/>
          </a:xfrm>
          <a:prstGeom prst="rect">
            <a:avLst/>
          </a:prstGeom>
        </p:spPr>
        <p:txBody>
          <a:bodyPr lIns="91334" tIns="45666" rIns="91334" bIns="45666"/>
          <a:lstStyle/>
          <a:p>
            <a:endParaRPr lang="en-US"/>
          </a:p>
        </p:txBody>
      </p:sp>
      <p:sp>
        <p:nvSpPr>
          <p:cNvPr id="6" name="Slide Number Placeholder 5"/>
          <p:cNvSpPr>
            <a:spLocks noGrp="1"/>
          </p:cNvSpPr>
          <p:nvPr>
            <p:ph type="sldNum" sz="quarter" idx="12"/>
          </p:nvPr>
        </p:nvSpPr>
        <p:spPr>
          <a:xfrm>
            <a:off x="8737600" y="6356352"/>
            <a:ext cx="2844800" cy="365125"/>
          </a:xfrm>
          <a:prstGeom prst="rect">
            <a:avLst/>
          </a:prstGeom>
        </p:spPr>
        <p:txBody>
          <a:bodyPr lIns="91334" tIns="45666" rIns="91334" bIns="45666"/>
          <a:lstStyle/>
          <a:p>
            <a:fld id="{BFE64F8A-51A1-45CE-ACFC-5433B7DEDF7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pic>
        <p:nvPicPr>
          <p:cNvPr id="2097152" name="图片 12"/>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9219838" y="141768"/>
            <a:ext cx="477054" cy="477054"/>
          </a:xfrm>
          <a:prstGeom prst="rect">
            <a:avLst/>
          </a:prstGeom>
        </p:spPr>
      </p:pic>
      <p:sp>
        <p:nvSpPr>
          <p:cNvPr id="1048581" name="文本框 13"/>
          <p:cNvSpPr txBox="1"/>
          <p:nvPr userDrawn="1"/>
        </p:nvSpPr>
        <p:spPr>
          <a:xfrm>
            <a:off x="9696892" y="141768"/>
            <a:ext cx="2445489" cy="586739"/>
          </a:xfrm>
          <a:prstGeom prst="rect">
            <a:avLst/>
          </a:prstGeom>
          <a:noFill/>
        </p:spPr>
        <p:txBody>
          <a:bodyPr wrap="square" rtlCol="0">
            <a:spAutoFit/>
          </a:bodyPr>
          <a:lstStyle/>
          <a:p>
            <a:pPr algn="dist"/>
            <a:r>
              <a:rPr lang="zh-CN" altLang="en-US" sz="1600" b="0" i="0" dirty="0">
                <a:solidFill>
                  <a:srgbClr val="113787"/>
                </a:solidFill>
                <a:effectLst/>
                <a:latin typeface="汉仪雪君体简" panose="02010604000101010101" pitchFamily="2" charset="-122"/>
                <a:ea typeface="汉仪雪君体简" panose="02010604000101010101" pitchFamily="2" charset="-122"/>
              </a:rPr>
              <a:t>国家自然科学基金委员会</a:t>
            </a:r>
            <a:endParaRPr lang="en-US" altLang="zh-CN" sz="1600" b="0" i="0" dirty="0">
              <a:solidFill>
                <a:srgbClr val="113787"/>
              </a:solidFill>
              <a:effectLst/>
              <a:latin typeface="汉仪雪君体简" panose="02010604000101010101" pitchFamily="2" charset="-122"/>
              <a:ea typeface="汉仪雪君体简" panose="02010604000101010101" pitchFamily="2" charset="-122"/>
            </a:endParaRPr>
          </a:p>
          <a:p>
            <a:pPr algn="dist"/>
            <a:r>
              <a:rPr lang="en-US" altLang="zh-CN" sz="900" b="0" i="0" dirty="0">
                <a:solidFill>
                  <a:srgbClr val="113787"/>
                </a:solidFill>
                <a:effectLst/>
                <a:latin typeface="Times New Roman" panose="02020603050405020304" pitchFamily="18" charset="0"/>
                <a:ea typeface="汉仪雪君体简" panose="02010604000101010101" pitchFamily="2" charset="-122"/>
                <a:cs typeface="Times New Roman" panose="02020603050405020304" pitchFamily="18" charset="0"/>
              </a:rPr>
              <a:t>National Natural Science Foundation of China</a:t>
            </a:r>
            <a:endParaRPr lang="zh-CN" altLang="en-US" sz="900" dirty="0">
              <a:solidFill>
                <a:srgbClr val="113787"/>
              </a:solidFill>
              <a:latin typeface="Times New Roman" panose="02020603050405020304" pitchFamily="18" charset="0"/>
              <a:ea typeface="汉仪雪君体简" panose="02010604000101010101" pitchFamily="2" charset="-122"/>
              <a:cs typeface="Times New Roman" panose="02020603050405020304" pitchFamily="18" charset="0"/>
            </a:endParaRPr>
          </a:p>
        </p:txBody>
      </p:sp>
      <p:sp>
        <p:nvSpPr>
          <p:cNvPr id="1048582" name="矩形 21"/>
          <p:cNvSpPr/>
          <p:nvPr userDrawn="1"/>
        </p:nvSpPr>
        <p:spPr>
          <a:xfrm>
            <a:off x="0" y="162022"/>
            <a:ext cx="202019" cy="436545"/>
          </a:xfrm>
          <a:prstGeom prst="rect">
            <a:avLst/>
          </a:prstGeom>
          <a:gradFill>
            <a:gsLst>
              <a:gs pos="0">
                <a:srgbClr val="DEEBF7">
                  <a:lumMod val="50000"/>
                </a:srgbClr>
              </a:gs>
              <a:gs pos="88000">
                <a:srgbClr val="0D2D7F"/>
              </a:gs>
            </a:gsLst>
            <a:path path="circle">
              <a:fillToRect l="50000" t="-80000" r="50000" b="180000"/>
            </a:path>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10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OPPOSans M" panose="00020600040101010101" pitchFamily="18" charset="-122"/>
            </a:endParaRPr>
          </a:p>
        </p:txBody>
      </p:sp>
      <p:sp>
        <p:nvSpPr>
          <p:cNvPr id="1048583" name="灯片编号占位符 3"/>
          <p:cNvSpPr>
            <a:spLocks noGrp="1"/>
          </p:cNvSpPr>
          <p:nvPr>
            <p:ph type="sldNum" sz="quarter" idx="12"/>
          </p:nvPr>
        </p:nvSpPr>
        <p:spPr>
          <a:xfrm>
            <a:off x="11013742" y="6315407"/>
            <a:ext cx="949295" cy="365125"/>
          </a:xfrm>
        </p:spPr>
        <p:txBody>
          <a:bodyPr/>
          <a:lstStyle>
            <a:lvl1pPr>
              <a:defRPr sz="1400" b="1">
                <a:latin typeface="微软雅黑" panose="020B0503020204020204" pitchFamily="34" charset="-122"/>
                <a:ea typeface="微软雅黑" panose="020B0503020204020204" pitchFamily="34" charset="-122"/>
              </a:defRPr>
            </a:lvl1pPr>
          </a:lstStyle>
          <a:p>
            <a:fld id="{6A7BAAD1-FD80-B042-8341-A76767C19845}" type="slidenum">
              <a:rPr kumimoji="1" lang="zh-CN" altLang="en-US" smtClean="0"/>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ubsection">
    <p:spTree>
      <p:nvGrpSpPr>
        <p:cNvPr id="1" name=""/>
        <p:cNvGrpSpPr/>
        <p:nvPr/>
      </p:nvGrpSpPr>
      <p:grpSpPr>
        <a:xfrm>
          <a:off x="0" y="0"/>
          <a:ext cx="0" cy="0"/>
          <a:chOff x="0" y="0"/>
          <a:chExt cx="0" cy="0"/>
        </a:xfrm>
      </p:grpSpPr>
      <p:sp>
        <p:nvSpPr>
          <p:cNvPr id="11" name="Rectangle 10"/>
          <p:cNvSpPr/>
          <p:nvPr/>
        </p:nvSpPr>
        <p:spPr>
          <a:xfrm>
            <a:off x="999067" y="2438404"/>
            <a:ext cx="9753600" cy="1956197"/>
          </a:xfrm>
          <a:prstGeom prst="rect">
            <a:avLst/>
          </a:prstGeom>
          <a:noFill/>
          <a:ln w="6350" cap="rnd" cmpd="sng" algn="ctr">
            <a:solidFill>
              <a:srgbClr val="EB641B"/>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600">
              <a:solidFill>
                <a:srgbClr val="000000"/>
              </a:solidFill>
              <a:latin typeface="+mn-lt"/>
              <a:ea typeface="+mn-ea"/>
            </a:endParaRPr>
          </a:p>
        </p:txBody>
      </p:sp>
      <p:sp>
        <p:nvSpPr>
          <p:cNvPr id="12" name="Rectangle 14"/>
          <p:cNvSpPr/>
          <p:nvPr/>
        </p:nvSpPr>
        <p:spPr>
          <a:xfrm>
            <a:off x="999067" y="2438404"/>
            <a:ext cx="304800" cy="1956197"/>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600">
              <a:solidFill>
                <a:srgbClr val="000000"/>
              </a:solidFill>
              <a:latin typeface="+mn-lt"/>
              <a:ea typeface="+mn-ea"/>
            </a:endParaRPr>
          </a:p>
        </p:txBody>
      </p:sp>
      <p:sp>
        <p:nvSpPr>
          <p:cNvPr id="13" name="Title 7"/>
          <p:cNvSpPr>
            <a:spLocks noGrp="1"/>
          </p:cNvSpPr>
          <p:nvPr>
            <p:ph type="ctrTitle"/>
          </p:nvPr>
        </p:nvSpPr>
        <p:spPr>
          <a:xfrm>
            <a:off x="1418167" y="2676528"/>
            <a:ext cx="9144000" cy="1514475"/>
          </a:xfrm>
        </p:spPr>
        <p:txBody>
          <a:bodyPr anchor="ctr"/>
          <a:lstStyle>
            <a:lvl1pPr algn="ctr">
              <a:defRPr sz="3200" b="0">
                <a:solidFill>
                  <a:srgbClr val="000000"/>
                </a:solidFill>
                <a:latin typeface="+mn-lt"/>
                <a:ea typeface="+mn-ea"/>
              </a:defRPr>
            </a:lvl1pPr>
          </a:lstStyle>
          <a:p>
            <a:r>
              <a:rPr lang="zh-CN" altLang="en-US"/>
              <a:t>单击此处编辑母版标题样式</a:t>
            </a:r>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仅标题-r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mj-lt"/>
                <a:ea typeface="+mj-ea"/>
              </a:defRPr>
            </a:lvl1pPr>
          </a:lstStyle>
          <a:p>
            <a:r>
              <a:rPr lang="zh-CN" altLang="en-US"/>
              <a:t>单击此处编辑母版标题样式</a:t>
            </a:r>
            <a:endParaRPr 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第一章">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2" name="Title Placeholder 1"/>
          <p:cNvSpPr>
            <a:spLocks noGrp="1"/>
          </p:cNvSpPr>
          <p:nvPr>
            <p:ph type="title"/>
          </p:nvPr>
        </p:nvSpPr>
        <p:spPr>
          <a:xfrm>
            <a:off x="1277188" y="229440"/>
            <a:ext cx="10914823" cy="466063"/>
          </a:xfrm>
          <a:prstGeom prst="rect">
            <a:avLst/>
          </a:prstGeom>
        </p:spPr>
        <p:txBody>
          <a:bodyPr vert="horz" lIns="91334" tIns="45666" rIns="91334" bIns="45666" rtlCol="0" anchor="ctr">
            <a:noAutofit/>
          </a:bodyPr>
          <a:lstStyle/>
          <a:p>
            <a:r>
              <a:rPr lang="en-US" dirty="0"/>
              <a:t>Click to edit Master 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标题和竖排文字">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pic>
        <p:nvPicPr>
          <p:cNvPr id="2097152" name="图片 12"/>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9219838" y="141768"/>
            <a:ext cx="477054" cy="477054"/>
          </a:xfrm>
          <a:prstGeom prst="rect">
            <a:avLst/>
          </a:prstGeom>
        </p:spPr>
      </p:pic>
      <p:sp>
        <p:nvSpPr>
          <p:cNvPr id="1048581" name="文本框 13"/>
          <p:cNvSpPr txBox="1"/>
          <p:nvPr userDrawn="1"/>
        </p:nvSpPr>
        <p:spPr>
          <a:xfrm>
            <a:off x="9696892" y="141768"/>
            <a:ext cx="2445489" cy="586739"/>
          </a:xfrm>
          <a:prstGeom prst="rect">
            <a:avLst/>
          </a:prstGeom>
          <a:noFill/>
        </p:spPr>
        <p:txBody>
          <a:bodyPr wrap="square" rtlCol="0">
            <a:spAutoFit/>
          </a:bodyPr>
          <a:lstStyle/>
          <a:p>
            <a:pPr algn="dist"/>
            <a:r>
              <a:rPr lang="zh-CN" altLang="en-US" sz="1600" b="0" i="0" dirty="0">
                <a:solidFill>
                  <a:srgbClr val="113787"/>
                </a:solidFill>
                <a:effectLst/>
                <a:latin typeface="汉仪雪君体简" panose="02010604000101010101" pitchFamily="2" charset="-122"/>
                <a:ea typeface="汉仪雪君体简" panose="02010604000101010101" pitchFamily="2" charset="-122"/>
              </a:rPr>
              <a:t>国家自然科学基金委员会</a:t>
            </a:r>
            <a:endParaRPr lang="en-US" altLang="zh-CN" sz="1600" b="0" i="0" dirty="0">
              <a:solidFill>
                <a:srgbClr val="113787"/>
              </a:solidFill>
              <a:effectLst/>
              <a:latin typeface="汉仪雪君体简" panose="02010604000101010101" pitchFamily="2" charset="-122"/>
              <a:ea typeface="汉仪雪君体简" panose="02010604000101010101" pitchFamily="2" charset="-122"/>
            </a:endParaRPr>
          </a:p>
          <a:p>
            <a:pPr algn="dist"/>
            <a:r>
              <a:rPr lang="en-US" altLang="zh-CN" sz="900" b="0" i="0" dirty="0">
                <a:solidFill>
                  <a:srgbClr val="113787"/>
                </a:solidFill>
                <a:effectLst/>
                <a:latin typeface="Times New Roman" panose="02020603050405020304" pitchFamily="18" charset="0"/>
                <a:ea typeface="汉仪雪君体简" panose="02010604000101010101" pitchFamily="2" charset="-122"/>
                <a:cs typeface="Times New Roman" panose="02020603050405020304" pitchFamily="18" charset="0"/>
              </a:rPr>
              <a:t>National Natural Science Foundation of China</a:t>
            </a:r>
            <a:endParaRPr lang="zh-CN" altLang="en-US" sz="900" dirty="0">
              <a:solidFill>
                <a:srgbClr val="113787"/>
              </a:solidFill>
              <a:latin typeface="Times New Roman" panose="02020603050405020304" pitchFamily="18" charset="0"/>
              <a:ea typeface="汉仪雪君体简" panose="02010604000101010101" pitchFamily="2" charset="-122"/>
              <a:cs typeface="Times New Roman" panose="02020603050405020304" pitchFamily="18" charset="0"/>
            </a:endParaRPr>
          </a:p>
        </p:txBody>
      </p:sp>
      <p:sp>
        <p:nvSpPr>
          <p:cNvPr id="1048582" name="矩形 21"/>
          <p:cNvSpPr/>
          <p:nvPr userDrawn="1"/>
        </p:nvSpPr>
        <p:spPr>
          <a:xfrm>
            <a:off x="0" y="162022"/>
            <a:ext cx="202019" cy="436545"/>
          </a:xfrm>
          <a:prstGeom prst="rect">
            <a:avLst/>
          </a:prstGeom>
          <a:gradFill>
            <a:gsLst>
              <a:gs pos="0">
                <a:srgbClr val="DEEBF7">
                  <a:lumMod val="50000"/>
                </a:srgbClr>
              </a:gs>
              <a:gs pos="88000">
                <a:srgbClr val="0D2D7F"/>
              </a:gs>
            </a:gsLst>
            <a:path path="circle">
              <a:fillToRect l="50000" t="-80000" r="50000" b="180000"/>
            </a:path>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pPr>
            <a:endParaRPr kumimoji="0" lang="zh-CN" altLang="en-US" sz="1800" b="0" i="0" u="none" strike="noStrike" kern="0" cap="none" spc="10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OPPOSans M" panose="00020600040101010101" pitchFamily="18" charset="-122"/>
            </a:endParaRPr>
          </a:p>
        </p:txBody>
      </p:sp>
      <p:sp>
        <p:nvSpPr>
          <p:cNvPr id="1048583" name="灯片编号占位符 3"/>
          <p:cNvSpPr>
            <a:spLocks noGrp="1"/>
          </p:cNvSpPr>
          <p:nvPr>
            <p:ph type="sldNum" sz="quarter" idx="12"/>
          </p:nvPr>
        </p:nvSpPr>
        <p:spPr>
          <a:xfrm>
            <a:off x="11013742" y="6315407"/>
            <a:ext cx="949295" cy="365125"/>
          </a:xfrm>
        </p:spPr>
        <p:txBody>
          <a:bodyPr/>
          <a:lstStyle>
            <a:lvl1pPr>
              <a:defRPr sz="1400" b="1">
                <a:latin typeface="微软雅黑" panose="020B0503020204020204" pitchFamily="34" charset="-122"/>
                <a:ea typeface="微软雅黑" panose="020B0503020204020204" pitchFamily="34" charset="-122"/>
              </a:defRPr>
            </a:lvl1pPr>
          </a:lstStyle>
          <a:p>
            <a:fld id="{6A7BAAD1-FD80-B042-8341-A76767C19845}" type="slidenum">
              <a:rPr kumimoji="1" lang="zh-CN" altLang="en-US" smtClean="0"/>
            </a:fld>
            <a:endParaRPr kumimoji="1"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00" y="6245225"/>
            <a:ext cx="2844800" cy="476250"/>
          </a:xfrm>
        </p:spPr>
        <p:txBody>
          <a:bodyPr/>
          <a:lstStyle/>
          <a:p>
            <a:pPr>
              <a:defRPr/>
            </a:pPr>
            <a:fld id="{65499DD5-3EF4-474C-B6A4-E39F86EC6763}" type="datetimeFigureOut">
              <a:rPr lang="zh-CN" altLang="en-US"/>
            </a:fld>
            <a:endParaRPr lang="zh-CN" altLang="en-US"/>
          </a:p>
        </p:txBody>
      </p:sp>
      <p:sp>
        <p:nvSpPr>
          <p:cNvPr id="4" name="页脚占位符 3"/>
          <p:cNvSpPr>
            <a:spLocks noGrp="1"/>
          </p:cNvSpPr>
          <p:nvPr>
            <p:ph type="ftr" sz="quarter" idx="11"/>
          </p:nvPr>
        </p:nvSpPr>
        <p:spPr>
          <a:xfrm>
            <a:off x="4165600" y="6245225"/>
            <a:ext cx="3860800" cy="476250"/>
          </a:xfrm>
        </p:spPr>
        <p:txBody>
          <a:bodyPr/>
          <a:lstStyle/>
          <a:p>
            <a:pPr>
              <a:defRPr/>
            </a:pPr>
            <a:endParaRPr lang="zh-CN" altLang="en-US"/>
          </a:p>
        </p:txBody>
      </p:sp>
      <p:sp>
        <p:nvSpPr>
          <p:cNvPr id="5" name="灯片编号占位符 4"/>
          <p:cNvSpPr>
            <a:spLocks noGrp="1"/>
          </p:cNvSpPr>
          <p:nvPr>
            <p:ph type="sldNum" sz="quarter" idx="12"/>
          </p:nvPr>
        </p:nvSpPr>
        <p:spPr>
          <a:xfrm>
            <a:off x="8737600" y="6245225"/>
            <a:ext cx="2844800" cy="476250"/>
          </a:xfrm>
        </p:spPr>
        <p:txBody>
          <a:bodyPr/>
          <a:lstStyle/>
          <a:p>
            <a:pPr>
              <a:defRPr/>
            </a:pPr>
            <a:fld id="{0F593931-9137-4EFD-893E-5F4014C401A6}"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3.jpe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152401"/>
            <a:ext cx="9906000" cy="685793"/>
          </a:xfrm>
          <a:prstGeom prst="rect">
            <a:avLst/>
          </a:prstGeom>
          <a:noFill/>
          <a:ln>
            <a:noFill/>
          </a:ln>
        </p:spPr>
        <p:txBody>
          <a:bodyPr vert="horz" wrap="square" lIns="91440" tIns="45720" rIns="91440" bIns="45720" numCol="1" anchor="b" anchorCtr="0" compatLnSpc="1"/>
          <a:lstStyle/>
          <a:p>
            <a:pPr lvl="0"/>
            <a:r>
              <a:rPr lang="zh-CN" altLang="en-US" dirty="0"/>
              <a:t>单击此处编辑母版标题样式</a:t>
            </a:r>
            <a:endParaRPr lang="en-US" altLang="zh-CN" dirty="0"/>
          </a:p>
        </p:txBody>
      </p:sp>
      <p:sp>
        <p:nvSpPr>
          <p:cNvPr id="1027" name="Text Placeholder 12"/>
          <p:cNvSpPr>
            <a:spLocks noGrp="1"/>
          </p:cNvSpPr>
          <p:nvPr>
            <p:ph type="body" idx="1"/>
          </p:nvPr>
        </p:nvSpPr>
        <p:spPr bwMode="auto">
          <a:xfrm>
            <a:off x="609600" y="973821"/>
            <a:ext cx="10972800" cy="5552477"/>
          </a:xfrm>
          <a:prstGeom prst="rect">
            <a:avLst/>
          </a:prstGeom>
          <a:noFill/>
          <a:ln>
            <a:noFill/>
          </a:ln>
        </p:spPr>
        <p:txBody>
          <a:bodyPr vert="horz" wrap="square" lIns="91440" tIns="45720" rIns="91440" bIns="45720" numCol="1" anchor="t" anchorCtr="0" compatLnSpc="1"/>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p:txBody>
      </p:sp>
      <p:sp>
        <p:nvSpPr>
          <p:cNvPr id="1032" name="Straight Connector 28"/>
          <p:cNvSpPr>
            <a:spLocks noChangeShapeType="1"/>
          </p:cNvSpPr>
          <p:nvPr/>
        </p:nvSpPr>
        <p:spPr bwMode="auto">
          <a:xfrm>
            <a:off x="609600" y="914400"/>
            <a:ext cx="10972800" cy="0"/>
          </a:xfrm>
          <a:prstGeom prst="line">
            <a:avLst/>
          </a:prstGeom>
          <a:noFill/>
          <a:ln w="9525" algn="ctr">
            <a:solidFill>
              <a:schemeClr val="accent2"/>
            </a:solidFill>
            <a:prstDash val="dash"/>
            <a:round/>
          </a:ln>
        </p:spPr>
        <p:txBody>
          <a:bodyPr/>
          <a:lstStyle/>
          <a:p>
            <a:endParaRPr lang="zh-CN" altLang="en-US" sz="2600">
              <a:solidFill>
                <a:srgbClr val="000000"/>
              </a:solidFill>
            </a:endParaRPr>
          </a:p>
        </p:txBody>
      </p:sp>
      <p:pic>
        <p:nvPicPr>
          <p:cNvPr id="11" name="图片 3"/>
          <p:cNvPicPr>
            <a:picLocks noChangeAspect="1"/>
          </p:cNvPicPr>
          <p:nvPr/>
        </p:nvPicPr>
        <p:blipFill>
          <a:blip r:embed="rId20" cstate="screen"/>
          <a:srcRect/>
          <a:stretch>
            <a:fillRect/>
          </a:stretch>
        </p:blipFill>
        <p:spPr bwMode="auto">
          <a:xfrm>
            <a:off x="10896600" y="178374"/>
            <a:ext cx="609600" cy="593123"/>
          </a:xfrm>
          <a:prstGeom prst="rect">
            <a:avLst/>
          </a:prstGeom>
          <a:noFill/>
          <a:ln>
            <a:noFill/>
          </a:ln>
        </p:spPr>
      </p:pic>
      <p:sp>
        <p:nvSpPr>
          <p:cNvPr id="15" name="Straight Connector 27"/>
          <p:cNvSpPr>
            <a:spLocks noChangeShapeType="1"/>
          </p:cNvSpPr>
          <p:nvPr/>
        </p:nvSpPr>
        <p:spPr bwMode="auto">
          <a:xfrm>
            <a:off x="609600" y="6602508"/>
            <a:ext cx="10972800" cy="0"/>
          </a:xfrm>
          <a:prstGeom prst="line">
            <a:avLst/>
          </a:prstGeom>
          <a:noFill/>
          <a:ln w="9525" algn="ctr">
            <a:solidFill>
              <a:schemeClr val="accent2"/>
            </a:solidFill>
            <a:prstDash val="dash"/>
            <a:round/>
          </a:ln>
        </p:spPr>
        <p:txBody>
          <a:bodyPr/>
          <a:lstStyle/>
          <a:p>
            <a:endParaRPr lang="zh-CN" altLang="en-US" sz="1200">
              <a:solidFill>
                <a:srgbClr val="000000"/>
              </a:solidFill>
              <a:latin typeface="Cambria" panose="02040503050406030204" pitchFamily="18" charset="0"/>
            </a:endParaRPr>
          </a:p>
        </p:txBody>
      </p:sp>
      <p:sp>
        <p:nvSpPr>
          <p:cNvPr id="18" name="Rectangle 17"/>
          <p:cNvSpPr/>
          <p:nvPr userDrawn="1"/>
        </p:nvSpPr>
        <p:spPr>
          <a:xfrm>
            <a:off x="11119102" y="6591391"/>
            <a:ext cx="429855" cy="184666"/>
          </a:xfrm>
          <a:prstGeom prst="rect">
            <a:avLst/>
          </a:prstGeom>
        </p:spPr>
        <p:txBody>
          <a:bodyPr wrap="square" lIns="0" tIns="0" rIns="0" bIns="0">
            <a:noAutofit/>
          </a:bodyPr>
          <a:lstStyle/>
          <a:p>
            <a:pPr algn="ctr">
              <a:defRPr/>
            </a:pPr>
            <a:fld id="{7A0AC270-0923-4589-A51D-6091E7C5371F}" type="slidenum">
              <a:rPr lang="zh-CN" altLang="en-US" sz="1200" kern="1200" smtClean="0">
                <a:solidFill>
                  <a:srgbClr val="000000"/>
                </a:solidFill>
                <a:latin typeface="Cambria" panose="02040503050406030204" pitchFamily="18" charset="0"/>
                <a:ea typeface="+mn-ea"/>
                <a:cs typeface="Arial" panose="02080604020202020204" pitchFamily="34" charset="0"/>
              </a:rPr>
            </a:fld>
            <a:endParaRPr lang="en-US" altLang="zh-CN" sz="1200" kern="1200" dirty="0">
              <a:solidFill>
                <a:srgbClr val="000000"/>
              </a:solidFill>
              <a:latin typeface="Cambria" panose="02040503050406030204" pitchFamily="18" charset="0"/>
              <a:ea typeface="Cambria" panose="02040503050406030204" pitchFamily="18" charset="0"/>
              <a:cs typeface="Arial" panose="02080604020202020204" pitchFamily="34" charset="0"/>
            </a:endParaRPr>
          </a:p>
        </p:txBody>
      </p:sp>
      <p:sp>
        <p:nvSpPr>
          <p:cNvPr id="10" name="Straight Connector 28"/>
          <p:cNvSpPr>
            <a:spLocks noChangeShapeType="1"/>
          </p:cNvSpPr>
          <p:nvPr userDrawn="1"/>
        </p:nvSpPr>
        <p:spPr bwMode="auto">
          <a:xfrm>
            <a:off x="609600" y="914400"/>
            <a:ext cx="10972800" cy="0"/>
          </a:xfrm>
          <a:prstGeom prst="line">
            <a:avLst/>
          </a:prstGeom>
          <a:noFill/>
          <a:ln w="9525" algn="ctr">
            <a:solidFill>
              <a:schemeClr val="accent2"/>
            </a:solidFill>
            <a:prstDash val="dash"/>
            <a:round/>
          </a:ln>
        </p:spPr>
        <p:txBody>
          <a:bodyPr/>
          <a:lstStyle/>
          <a:p>
            <a:endParaRPr lang="zh-CN" altLang="en-US" sz="2600">
              <a:solidFill>
                <a:srgbClr val="30303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rtl="0" eaLnBrk="1" fontAlgn="base" hangingPunct="1">
        <a:spcBef>
          <a:spcPct val="0"/>
        </a:spcBef>
        <a:spcAft>
          <a:spcPct val="0"/>
        </a:spcAft>
        <a:defRPr sz="2800" b="0" kern="1200">
          <a:solidFill>
            <a:srgbClr val="000000"/>
          </a:solidFill>
          <a:latin typeface="+mj-lt"/>
          <a:ea typeface="+mj-ea"/>
          <a:cs typeface="+mj-cs"/>
        </a:defRPr>
      </a:lvl1pPr>
      <a:lvl2pPr algn="l" rtl="0" eaLnBrk="1" fontAlgn="base" hangingPunct="1">
        <a:spcBef>
          <a:spcPct val="0"/>
        </a:spcBef>
        <a:spcAft>
          <a:spcPct val="0"/>
        </a:spcAft>
        <a:defRPr sz="2700">
          <a:solidFill>
            <a:schemeClr val="tx2"/>
          </a:solidFill>
          <a:latin typeface="Calibri" panose="020F0502020204030204" pitchFamily="34" charset="0"/>
        </a:defRPr>
      </a:lvl2pPr>
      <a:lvl3pPr algn="l" rtl="0" eaLnBrk="1" fontAlgn="base" hangingPunct="1">
        <a:spcBef>
          <a:spcPct val="0"/>
        </a:spcBef>
        <a:spcAft>
          <a:spcPct val="0"/>
        </a:spcAft>
        <a:defRPr sz="2700">
          <a:solidFill>
            <a:schemeClr val="tx2"/>
          </a:solidFill>
          <a:latin typeface="Calibri" panose="020F0502020204030204" pitchFamily="34" charset="0"/>
        </a:defRPr>
      </a:lvl3pPr>
      <a:lvl4pPr algn="l" rtl="0" eaLnBrk="1" fontAlgn="base" hangingPunct="1">
        <a:spcBef>
          <a:spcPct val="0"/>
        </a:spcBef>
        <a:spcAft>
          <a:spcPct val="0"/>
        </a:spcAft>
        <a:defRPr sz="2700">
          <a:solidFill>
            <a:schemeClr val="tx2"/>
          </a:solidFill>
          <a:latin typeface="Calibri" panose="020F0502020204030204" pitchFamily="34" charset="0"/>
        </a:defRPr>
      </a:lvl4pPr>
      <a:lvl5pPr algn="l" rtl="0" eaLnBrk="1" fontAlgn="base" hangingPunct="1">
        <a:spcBef>
          <a:spcPct val="0"/>
        </a:spcBef>
        <a:spcAft>
          <a:spcPct val="0"/>
        </a:spcAft>
        <a:defRPr sz="2700">
          <a:solidFill>
            <a:schemeClr val="tx2"/>
          </a:solidFill>
          <a:latin typeface="Calibri" panose="020F0502020204030204" pitchFamily="34" charset="0"/>
        </a:defRPr>
      </a:lvl5pPr>
      <a:lvl6pPr marL="342900" algn="l" rtl="0" eaLnBrk="1" fontAlgn="base" hangingPunct="1">
        <a:spcBef>
          <a:spcPct val="0"/>
        </a:spcBef>
        <a:spcAft>
          <a:spcPct val="0"/>
        </a:spcAft>
        <a:defRPr sz="2400">
          <a:solidFill>
            <a:schemeClr val="tx2"/>
          </a:solidFill>
          <a:latin typeface="Calibri" panose="020F0502020204030204" pitchFamily="34" charset="0"/>
        </a:defRPr>
      </a:lvl6pPr>
      <a:lvl7pPr marL="685800" algn="l" rtl="0" eaLnBrk="1" fontAlgn="base" hangingPunct="1">
        <a:spcBef>
          <a:spcPct val="0"/>
        </a:spcBef>
        <a:spcAft>
          <a:spcPct val="0"/>
        </a:spcAft>
        <a:defRPr sz="2400">
          <a:solidFill>
            <a:schemeClr val="tx2"/>
          </a:solidFill>
          <a:latin typeface="Calibri" panose="020F0502020204030204" pitchFamily="34" charset="0"/>
        </a:defRPr>
      </a:lvl7pPr>
      <a:lvl8pPr marL="1028700" algn="l" rtl="0" eaLnBrk="1" fontAlgn="base" hangingPunct="1">
        <a:spcBef>
          <a:spcPct val="0"/>
        </a:spcBef>
        <a:spcAft>
          <a:spcPct val="0"/>
        </a:spcAft>
        <a:defRPr sz="2400">
          <a:solidFill>
            <a:schemeClr val="tx2"/>
          </a:solidFill>
          <a:latin typeface="Calibri" panose="020F0502020204030204" pitchFamily="34" charset="0"/>
        </a:defRPr>
      </a:lvl8pPr>
      <a:lvl9pPr marL="1371600" algn="l" rtl="0" eaLnBrk="1" fontAlgn="base" hangingPunct="1">
        <a:spcBef>
          <a:spcPct val="0"/>
        </a:spcBef>
        <a:spcAft>
          <a:spcPct val="0"/>
        </a:spcAft>
        <a:defRPr sz="2400">
          <a:solidFill>
            <a:schemeClr val="tx2"/>
          </a:solidFill>
          <a:latin typeface="Calibri" panose="020F0502020204030204" pitchFamily="34" charset="0"/>
        </a:defRPr>
      </a:lvl9pPr>
    </p:titleStyle>
    <p:bodyStyle>
      <a:lvl1pPr marL="204470" indent="-204470" algn="l" rtl="0" eaLnBrk="1" fontAlgn="base" hangingPunct="1">
        <a:spcBef>
          <a:spcPts val="450"/>
        </a:spcBef>
        <a:spcAft>
          <a:spcPts val="600"/>
        </a:spcAft>
        <a:buClr>
          <a:schemeClr val="accent1"/>
        </a:buClr>
        <a:buSzPct val="76000"/>
        <a:buFont typeface="Wingdings 3" panose="05040102010807070707" pitchFamily="18" charset="2"/>
        <a:buChar char=""/>
        <a:defRPr sz="2400" kern="1200" baseline="0">
          <a:solidFill>
            <a:srgbClr val="000000"/>
          </a:solidFill>
          <a:latin typeface="+mn-lt"/>
          <a:ea typeface="+mn-ea"/>
          <a:cs typeface="+mn-cs"/>
        </a:defRPr>
      </a:lvl1pPr>
      <a:lvl2pPr marL="410845" indent="-204470" algn="l" rtl="0" eaLnBrk="1" fontAlgn="base" hangingPunct="1">
        <a:spcBef>
          <a:spcPts val="375"/>
        </a:spcBef>
        <a:spcAft>
          <a:spcPts val="600"/>
        </a:spcAft>
        <a:buClr>
          <a:schemeClr val="accent2"/>
        </a:buClr>
        <a:buSzPct val="76000"/>
        <a:buFont typeface="Wingdings 3" panose="05040102010807070707" pitchFamily="18" charset="2"/>
        <a:buChar char=""/>
        <a:defRPr sz="2135" kern="1200" baseline="0">
          <a:solidFill>
            <a:srgbClr val="000000"/>
          </a:solidFill>
          <a:latin typeface="+mn-lt"/>
          <a:ea typeface="+mn-ea"/>
          <a:cs typeface="+mn-cs"/>
        </a:defRPr>
      </a:lvl2pPr>
      <a:lvl3pPr marL="616585" indent="-171450" algn="l" rtl="0" eaLnBrk="1" fontAlgn="base" hangingPunct="1">
        <a:spcBef>
          <a:spcPts val="375"/>
        </a:spcBef>
        <a:spcAft>
          <a:spcPct val="0"/>
        </a:spcAft>
        <a:buClr>
          <a:srgbClr val="BCBCBC"/>
        </a:buClr>
        <a:buSzPct val="76000"/>
        <a:buFont typeface="Wingdings 3" panose="05040102010807070707" pitchFamily="18" charset="2"/>
        <a:buChar char=""/>
        <a:defRPr sz="1600" kern="1200" baseline="0">
          <a:solidFill>
            <a:srgbClr val="000000"/>
          </a:solidFill>
          <a:latin typeface="+mn-lt"/>
          <a:ea typeface="+mn-ea"/>
          <a:cs typeface="+mn-cs"/>
        </a:defRPr>
      </a:lvl3pPr>
      <a:lvl4pPr marL="822960" indent="-171450" algn="l" rtl="0" eaLnBrk="1" fontAlgn="base" hangingPunct="1">
        <a:spcBef>
          <a:spcPts val="300"/>
        </a:spcBef>
        <a:spcAft>
          <a:spcPct val="0"/>
        </a:spcAft>
        <a:buClr>
          <a:srgbClr val="CF5716"/>
        </a:buClr>
        <a:buSzPct val="70000"/>
        <a:buFont typeface="Wingdings" panose="05000000000000000000" pitchFamily="2" charset="2"/>
        <a:buChar char=""/>
        <a:defRPr sz="1200" kern="1200" baseline="0">
          <a:solidFill>
            <a:schemeClr val="tx1"/>
          </a:solidFill>
          <a:latin typeface="+mn-lt"/>
          <a:ea typeface="+mn-ea"/>
          <a:cs typeface="+mn-cs"/>
        </a:defRPr>
      </a:lvl4pPr>
      <a:lvl5pPr marL="1028700" indent="-171450" algn="l" rtl="0" eaLnBrk="1" fontAlgn="base" hangingPunct="1">
        <a:spcBef>
          <a:spcPts val="225"/>
        </a:spcBef>
        <a:spcAft>
          <a:spcPct val="0"/>
        </a:spcAft>
        <a:buClr>
          <a:schemeClr val="accent2"/>
        </a:buClr>
        <a:buSzPct val="70000"/>
        <a:buFont typeface="Wingdings" panose="05000000000000000000" pitchFamily="2" charset="2"/>
        <a:buChar char=""/>
        <a:defRPr sz="1400" kern="1200" baseline="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panose="05040102010807070707"/>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panose="05040102010807070707"/>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panose="05040102010807070707"/>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panose="05040102010807070707"/>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customXml" Target="../ink/ink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7.jpe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5.xml"/><Relationship Id="rId2" Type="http://schemas.openxmlformats.org/officeDocument/2006/relationships/image" Target="../media/image12.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3.png"/><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5.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2.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9.jpeg"/><Relationship Id="rId1" Type="http://schemas.openxmlformats.org/officeDocument/2006/relationships/image" Target="../media/image38.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4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p:txBody>
          <a:bodyPr/>
          <a:lstStyle/>
          <a:p>
            <a:r>
              <a:rPr lang="zh-CN" altLang="en-US">
                <a:sym typeface="+mn-ea"/>
              </a:rPr>
              <a:t>基于高维特征概率密度建模的模型不确定性的研究</a:t>
            </a:r>
            <a:endParaRPr lang="en-US" altLang="zh-CN" b="1" dirty="0"/>
          </a:p>
        </p:txBody>
      </p:sp>
      <p:sp>
        <p:nvSpPr>
          <p:cNvPr id="15" name="Text Placeholder 14"/>
          <p:cNvSpPr>
            <a:spLocks noGrp="1"/>
          </p:cNvSpPr>
          <p:nvPr>
            <p:ph type="body" sz="quarter" idx="10"/>
          </p:nvPr>
        </p:nvSpPr>
        <p:spPr/>
        <p:txBody>
          <a:bodyPr/>
          <a:lstStyle/>
          <a:p>
            <a:r>
              <a:rPr lang="zh-CN" altLang="en-US" sz="2400">
                <a:sym typeface="+mn-ea"/>
              </a:rPr>
              <a:t>师清</a:t>
            </a:r>
            <a:endParaRPr lang="en-US" altLang="zh-CN" sz="2400" b="1" dirty="0">
              <a:latin typeface="+mn-ea"/>
            </a:endParaRPr>
          </a:p>
          <a:p>
            <a:r>
              <a:rPr lang="en-US" altLang="zh-CN" sz="2400" b="1" dirty="0" err="1">
                <a:latin typeface="+mn-ea"/>
              </a:rPr>
              <a:t>2024</a:t>
            </a:r>
            <a:r>
              <a:rPr lang="zh-CN" altLang="en-US" sz="2400" b="1" dirty="0">
                <a:latin typeface="+mn-ea"/>
              </a:rPr>
              <a:t>年</a:t>
            </a:r>
            <a:r>
              <a:rPr lang="en-US" altLang="zh-CN" sz="2400" b="1" dirty="0">
                <a:latin typeface="+mn-ea"/>
              </a:rPr>
              <a:t>12</a:t>
            </a:r>
            <a:r>
              <a:rPr lang="zh-CN" altLang="en-US" sz="2400" b="1" dirty="0">
                <a:latin typeface="+mn-ea"/>
              </a:rPr>
              <a:t>月</a:t>
            </a:r>
            <a:r>
              <a:rPr lang="en-US" altLang="zh-CN" sz="2400" b="1" dirty="0">
                <a:latin typeface="+mn-ea"/>
              </a:rPr>
              <a:t>26</a:t>
            </a:r>
            <a:r>
              <a:rPr lang="zh-CN" altLang="en-US" sz="2400" b="1" dirty="0">
                <a:latin typeface="+mn-ea"/>
              </a:rPr>
              <a:t>日</a:t>
            </a:r>
            <a:endParaRPr lang="en-US" altLang="zh-CN" sz="2400" b="1" dirty="0">
              <a:latin typeface="+mn-ea"/>
            </a:endParaRPr>
          </a:p>
        </p:txBody>
      </p:sp>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936395" y="4680118"/>
              <a:ext cx="74160" cy="9720"/>
            </p14:xfrm>
          </p:contentPart>
        </mc:Choice>
        <mc:Fallback xmlns="">
          <p:pic>
            <p:nvPicPr>
              <p:cNvPr id="5" name="墨迹 4"/>
            </p:nvPicPr>
            <p:blipFill>
              <a:blip r:embed="rId2"/>
            </p:blipFill>
            <p:spPr>
              <a:xfrm>
                <a:off x="-936395" y="4680118"/>
                <a:ext cx="74160" cy="9720"/>
              </a:xfrm>
              <a:prstGeom prst="rect"/>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1524000" y="2676528"/>
            <a:ext cx="9144000" cy="1514475"/>
          </a:xfrm>
        </p:spPr>
        <p:txBody>
          <a:bodyPr/>
          <a:lstStyle/>
          <a:p>
            <a:pPr algn="l">
              <a:lnSpc>
                <a:spcPct val="150000"/>
              </a:lnSpc>
            </a:pPr>
            <a:r>
              <a:rPr lang="zh-CN" altLang="en-US" sz="2800" b="1" dirty="0">
                <a:solidFill>
                  <a:srgbClr val="FF6406"/>
                </a:solidFill>
                <a:latin typeface="+mn-ea"/>
              </a:rPr>
              <a:t>■ </a:t>
            </a:r>
            <a:r>
              <a:rPr lang="zh-CN" altLang="en-US" sz="2800" b="1" dirty="0">
                <a:solidFill>
                  <a:schemeClr val="tx1"/>
                </a:solidFill>
                <a:latin typeface="+mn-ea"/>
              </a:rPr>
              <a:t>背景介绍</a:t>
            </a:r>
            <a:r>
              <a:rPr lang="zh-CN" altLang="en-US" sz="2800" b="1" dirty="0">
                <a:solidFill>
                  <a:srgbClr val="FF6406"/>
                </a:solidFill>
                <a:latin typeface="+mn-ea"/>
              </a:rPr>
              <a:t>      </a:t>
            </a:r>
            <a:r>
              <a:rPr lang="zh-CN" altLang="en-US" sz="2800" b="1" dirty="0">
                <a:solidFill>
                  <a:schemeClr val="accent2"/>
                </a:solidFill>
                <a:latin typeface="+mn-ea"/>
              </a:rPr>
              <a:t>■ </a:t>
            </a:r>
            <a:r>
              <a:rPr lang="zh-CN" altLang="en-US" sz="2800" b="1" dirty="0">
                <a:solidFill>
                  <a:schemeClr val="tx1"/>
                </a:solidFill>
                <a:latin typeface="+mn-ea"/>
              </a:rPr>
              <a:t>研究现状</a:t>
            </a:r>
            <a:r>
              <a:rPr lang="en-US" altLang="zh-CN" sz="2800" b="1" dirty="0">
                <a:solidFill>
                  <a:schemeClr val="tx1"/>
                </a:solidFill>
                <a:latin typeface="+mn-ea"/>
              </a:rPr>
              <a:t> </a:t>
            </a:r>
            <a:r>
              <a:rPr lang="en-US" altLang="zh-CN" sz="2800" b="1" dirty="0">
                <a:solidFill>
                  <a:schemeClr val="accent2"/>
                </a:solidFill>
                <a:latin typeface="+mn-ea"/>
              </a:rPr>
              <a:t>  </a:t>
            </a:r>
            <a:r>
              <a:rPr lang="zh-CN" altLang="en-US" sz="2800" b="1" dirty="0">
                <a:solidFill>
                  <a:schemeClr val="accent2"/>
                </a:solidFill>
                <a:latin typeface="+mn-ea"/>
                <a:sym typeface="+mn-ea"/>
              </a:rPr>
              <a:t>■ </a:t>
            </a:r>
            <a:r>
              <a:rPr lang="zh-CN" altLang="en-US" sz="2800" b="1" dirty="0">
                <a:solidFill>
                  <a:schemeClr val="tx1"/>
                </a:solidFill>
                <a:latin typeface="+mn-ea"/>
                <a:sym typeface="+mn-ea"/>
              </a:rPr>
              <a:t>研究进展</a:t>
            </a:r>
            <a:r>
              <a:rPr lang="en-US" altLang="zh-CN" sz="2800" b="1" dirty="0">
                <a:solidFill>
                  <a:schemeClr val="tx1"/>
                </a:solidFill>
                <a:latin typeface="+mn-ea"/>
                <a:sym typeface="+mn-ea"/>
              </a:rPr>
              <a:t> </a:t>
            </a:r>
            <a:r>
              <a:rPr lang="en-US" altLang="zh-CN" sz="2800" b="1" dirty="0">
                <a:solidFill>
                  <a:schemeClr val="accent2"/>
                </a:solidFill>
                <a:latin typeface="+mn-ea"/>
                <a:sym typeface="+mn-ea"/>
              </a:rPr>
              <a:t>  </a:t>
            </a:r>
            <a:r>
              <a:rPr lang="zh-CN" altLang="en-US" sz="2800" b="1" dirty="0">
                <a:solidFill>
                  <a:schemeClr val="accent2"/>
                </a:solidFill>
                <a:latin typeface="+mn-ea"/>
                <a:sym typeface="+mn-ea"/>
              </a:rPr>
              <a:t>■ </a:t>
            </a:r>
            <a:r>
              <a:rPr lang="zh-CN" altLang="en-US" sz="2800" b="1" dirty="0">
                <a:solidFill>
                  <a:schemeClr val="tx1"/>
                </a:solidFill>
                <a:latin typeface="+mn-ea"/>
                <a:sym typeface="+mn-ea"/>
              </a:rPr>
              <a:t>后续工作</a:t>
            </a:r>
            <a:endParaRPr lang="zh-CN" altLang="en-US" sz="2800" b="1" dirty="0">
              <a:solidFill>
                <a:schemeClr val="tx1"/>
              </a:solidFill>
              <a:latin typeface="+mn-ea"/>
              <a:sym typeface="+mn-ea"/>
            </a:endParaRPr>
          </a:p>
        </p:txBody>
      </p:sp>
      <p:sp>
        <p:nvSpPr>
          <p:cNvPr id="6" name="文本框 5"/>
          <p:cNvSpPr txBox="1"/>
          <p:nvPr/>
        </p:nvSpPr>
        <p:spPr>
          <a:xfrm>
            <a:off x="1295400" y="1981200"/>
            <a:ext cx="1919115" cy="523220"/>
          </a:xfrm>
          <a:prstGeom prst="rect">
            <a:avLst/>
          </a:prstGeom>
          <a:solidFill>
            <a:srgbClr val="EB651C"/>
          </a:solidFill>
          <a:ln>
            <a:solidFill>
              <a:srgbClr val="EB651C"/>
            </a:solidFill>
          </a:ln>
        </p:spPr>
        <p:txBody>
          <a:bodyPr wrap="none" rtlCol="0">
            <a:spAutoFit/>
          </a:bodyPr>
          <a:lstStyle/>
          <a:p>
            <a:r>
              <a:rPr lang="zh-CN" altLang="en-US" sz="2800" dirty="0">
                <a:solidFill>
                  <a:schemeClr val="bg1"/>
                </a:solidFill>
              </a:rPr>
              <a:t>内 容 提 要</a:t>
            </a:r>
            <a:endParaRPr lang="zh-CN" altLang="en-US" sz="28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背景介绍</a:t>
            </a:r>
            <a:endParaRPr lang="zh-CN" altLang="en-US"/>
          </a:p>
        </p:txBody>
      </p:sp>
      <p:sp>
        <p:nvSpPr>
          <p:cNvPr id="2" name="矩形 1"/>
          <p:cNvSpPr/>
          <p:nvPr/>
        </p:nvSpPr>
        <p:spPr>
          <a:xfrm>
            <a:off x="609600" y="1066800"/>
            <a:ext cx="10721975" cy="1753235"/>
          </a:xfrm>
          <a:prstGeom prst="rect">
            <a:avLst/>
          </a:prstGeom>
        </p:spPr>
        <p:txBody>
          <a:bodyPr wrap="square">
            <a:spAutoFit/>
          </a:bodyPr>
          <a:p>
            <a:pPr marL="285750" indent="-285750" algn="just">
              <a:buFont typeface="Wingdings" panose="05000000000000000000" charset="0"/>
              <a:buChar char=""/>
            </a:pPr>
            <a:r>
              <a:rPr lang="zh-CN" altLang="en-US" dirty="0">
                <a:sym typeface="+mn-ea"/>
              </a:rPr>
              <a:t>神经网络不确定性</a:t>
            </a:r>
            <a:r>
              <a:rPr lang="en-US" altLang="zh-CN" dirty="0">
                <a:sym typeface="+mn-ea"/>
              </a:rPr>
              <a:t>(</a:t>
            </a:r>
            <a:r>
              <a:rPr lang="en-US" altLang="zh-CN" dirty="0">
                <a:latin typeface="+mn-ea"/>
                <a:sym typeface="+mn-ea"/>
              </a:rPr>
              <a:t>U</a:t>
            </a:r>
            <a:r>
              <a:rPr lang="en-US" altLang="zh-CN" kern="100" dirty="0">
                <a:latin typeface="+mn-ea"/>
                <a:sym typeface="+mn-ea"/>
              </a:rPr>
              <a:t>ncertainty</a:t>
            </a:r>
            <a:r>
              <a:rPr lang="en-US" altLang="zh-CN" kern="100" dirty="0">
                <a:latin typeface="宋体" pitchFamily="2" charset="-122"/>
                <a:ea typeface="宋体" pitchFamily="2" charset="-122"/>
                <a:sym typeface="+mn-ea"/>
              </a:rPr>
              <a:t>)</a:t>
            </a:r>
            <a:r>
              <a:rPr lang="en-US" altLang="zh-CN" dirty="0">
                <a:sym typeface="+mn-ea"/>
              </a:rPr>
              <a:t>: </a:t>
            </a:r>
            <a:r>
              <a:rPr lang="zh-CN" altLang="en-US" dirty="0">
                <a:sym typeface="+mn-ea"/>
              </a:rPr>
              <a:t>现有神经网络模型存在着</a:t>
            </a:r>
            <a:r>
              <a:rPr lang="en-US" altLang="zh-CN" dirty="0">
                <a:sym typeface="+mn-ea"/>
              </a:rPr>
              <a:t>Overconfident Issue</a:t>
            </a:r>
            <a:r>
              <a:rPr lang="zh-CN" altLang="en-US" dirty="0">
                <a:sym typeface="+mn-ea"/>
              </a:rPr>
              <a:t>，即</a:t>
            </a:r>
            <a:r>
              <a:rPr lang="en-US" altLang="zh-CN" dirty="0">
                <a:sym typeface="+mn-ea"/>
              </a:rPr>
              <a:t>模型对于</a:t>
            </a:r>
            <a:r>
              <a:rPr lang="zh-CN" altLang="en-US" dirty="0">
                <a:solidFill>
                  <a:srgbClr val="FF0000"/>
                </a:solidFill>
                <a:sym typeface="+mn-ea"/>
              </a:rPr>
              <a:t>训练集分布以外</a:t>
            </a:r>
            <a:r>
              <a:rPr lang="en-US" altLang="zh-CN" dirty="0">
                <a:solidFill>
                  <a:srgbClr val="FF0000"/>
                </a:solidFill>
                <a:sym typeface="+mn-ea"/>
              </a:rPr>
              <a:t>样本</a:t>
            </a:r>
            <a:r>
              <a:rPr lang="en-US" altLang="zh-CN" dirty="0">
                <a:sym typeface="+mn-ea"/>
              </a:rPr>
              <a:t>，</a:t>
            </a:r>
            <a:r>
              <a:rPr lang="zh-CN" altLang="en-US" dirty="0">
                <a:sym typeface="+mn-ea"/>
              </a:rPr>
              <a:t>依然</a:t>
            </a:r>
            <a:r>
              <a:rPr lang="en-US" altLang="zh-CN" dirty="0">
                <a:sym typeface="+mn-ea"/>
              </a:rPr>
              <a:t>会过度自信地给出</a:t>
            </a:r>
            <a:r>
              <a:rPr lang="zh-CN" altLang="en-US" dirty="0">
                <a:sym typeface="+mn-ea"/>
              </a:rPr>
              <a:t>很</a:t>
            </a:r>
            <a:r>
              <a:rPr lang="en-US" altLang="zh-CN" dirty="0">
                <a:sym typeface="+mn-ea"/>
              </a:rPr>
              <a:t>高</a:t>
            </a:r>
            <a:r>
              <a:rPr lang="zh-CN" altLang="en-US" dirty="0">
                <a:sym typeface="+mn-ea"/>
              </a:rPr>
              <a:t>的</a:t>
            </a:r>
            <a:r>
              <a:rPr lang="en-US" altLang="zh-CN" dirty="0">
                <a:sym typeface="+mn-ea"/>
              </a:rPr>
              <a:t>预测</a:t>
            </a:r>
            <a:r>
              <a:rPr lang="zh-CN" altLang="en-US" dirty="0">
                <a:sym typeface="+mn-ea"/>
              </a:rPr>
              <a:t>概率</a:t>
            </a:r>
            <a:endParaRPr lang="en-US" altLang="zh-CN" dirty="0">
              <a:sym typeface="+mn-ea"/>
            </a:endParaRPr>
          </a:p>
          <a:p>
            <a:pPr marL="285750" indent="-285750" algn="just">
              <a:buFont typeface="Wingdings" panose="05000000000000000000" charset="0"/>
              <a:buChar char=""/>
            </a:pPr>
            <a:endParaRPr lang="en-US" altLang="zh-CN" dirty="0"/>
          </a:p>
          <a:p>
            <a:pPr marL="285750" indent="-285750" algn="just">
              <a:buFont typeface="Wingdings" panose="05000000000000000000" charset="0"/>
              <a:buChar char=""/>
            </a:pPr>
            <a:r>
              <a:rPr lang="en-US" altLang="zh-CN" dirty="0"/>
              <a:t>Predict Class+ </a:t>
            </a:r>
            <a:r>
              <a:rPr lang="en-US" altLang="zh-CN" dirty="0">
                <a:solidFill>
                  <a:srgbClr val="FF0000"/>
                </a:solidFill>
              </a:rPr>
              <a:t>Uncertainty</a:t>
            </a:r>
            <a:r>
              <a:rPr lang="zh-CN" altLang="en-US" dirty="0"/>
              <a:t>（额外预测一个指标，指示本次预测结果的可信度）</a:t>
            </a:r>
            <a:endParaRPr lang="zh-CN" altLang="en-US" dirty="0"/>
          </a:p>
          <a:p>
            <a:pPr marL="285750" indent="-285750" algn="just">
              <a:buFont typeface="Wingdings" panose="05000000000000000000" charset="0"/>
              <a:buChar char=""/>
            </a:pPr>
            <a:endParaRPr lang="zh-CN" altLang="en-US" dirty="0"/>
          </a:p>
          <a:p>
            <a:pPr marL="285750" indent="-285750" algn="just">
              <a:buFont typeface="Wingdings" panose="05000000000000000000" charset="0"/>
              <a:buChar char=""/>
            </a:pPr>
            <a:r>
              <a:rPr lang="zh-CN" altLang="en-US" dirty="0">
                <a:sym typeface="+mn-ea"/>
              </a:rPr>
              <a:t>主要应用于模型部署阶段</a:t>
            </a:r>
            <a:r>
              <a:rPr lang="en-US" altLang="zh-CN" dirty="0">
                <a:sym typeface="+mn-ea"/>
              </a:rPr>
              <a:t>:  </a:t>
            </a:r>
            <a:r>
              <a:rPr lang="zh-CN" altLang="en-US" dirty="0">
                <a:sym typeface="+mn-ea"/>
              </a:rPr>
              <a:t>对于不确定性高的预测，通过引入人工干预，减少错误预测发生</a:t>
            </a:r>
            <a:endParaRPr lang="zh-CN" altLang="en-US" dirty="0">
              <a:sym typeface="+mn-ea"/>
            </a:endParaRPr>
          </a:p>
        </p:txBody>
      </p:sp>
      <p:grpSp>
        <p:nvGrpSpPr>
          <p:cNvPr id="6" name="组合 5"/>
          <p:cNvGrpSpPr/>
          <p:nvPr/>
        </p:nvGrpSpPr>
        <p:grpSpPr>
          <a:xfrm>
            <a:off x="2057099" y="3166024"/>
            <a:ext cx="7716538" cy="2584450"/>
            <a:chOff x="2877" y="4940"/>
            <a:chExt cx="13213" cy="5081"/>
          </a:xfrm>
        </p:grpSpPr>
        <p:grpSp>
          <p:nvGrpSpPr>
            <p:cNvPr id="14" name="组合 13"/>
            <p:cNvGrpSpPr/>
            <p:nvPr/>
          </p:nvGrpSpPr>
          <p:grpSpPr>
            <a:xfrm>
              <a:off x="2877" y="4940"/>
              <a:ext cx="13213" cy="3623"/>
              <a:chOff x="2947" y="4465"/>
              <a:chExt cx="13213" cy="3623"/>
            </a:xfrm>
          </p:grpSpPr>
          <p:pic>
            <p:nvPicPr>
              <p:cNvPr id="4" name="图片 3" descr="c9ef4275d464f7435db9bca3a8935b5a"/>
              <p:cNvPicPr>
                <a:picLocks noChangeAspect="1"/>
              </p:cNvPicPr>
              <p:nvPr/>
            </p:nvPicPr>
            <p:blipFill>
              <a:blip r:embed="rId1"/>
              <a:stretch>
                <a:fillRect/>
              </a:stretch>
            </p:blipFill>
            <p:spPr>
              <a:xfrm>
                <a:off x="7124" y="5118"/>
                <a:ext cx="4442" cy="2970"/>
              </a:xfrm>
              <a:prstGeom prst="rect">
                <a:avLst/>
              </a:prstGeom>
            </p:spPr>
          </p:pic>
          <p:pic>
            <p:nvPicPr>
              <p:cNvPr id="5" name="图片 4" descr="6488315ce02a5456cff459200631883e"/>
              <p:cNvPicPr>
                <a:picLocks noChangeAspect="1"/>
              </p:cNvPicPr>
              <p:nvPr/>
            </p:nvPicPr>
            <p:blipFill>
              <a:blip r:embed="rId2"/>
              <a:stretch>
                <a:fillRect/>
              </a:stretch>
            </p:blipFill>
            <p:spPr>
              <a:xfrm>
                <a:off x="2947" y="5881"/>
                <a:ext cx="2645" cy="1759"/>
              </a:xfrm>
              <a:prstGeom prst="rect">
                <a:avLst/>
              </a:prstGeom>
            </p:spPr>
          </p:pic>
          <p:cxnSp>
            <p:nvCxnSpPr>
              <p:cNvPr id="7" name="直接箭头连接符 6"/>
              <p:cNvCxnSpPr/>
              <p:nvPr/>
            </p:nvCxnSpPr>
            <p:spPr>
              <a:xfrm flipH="1" flipV="1">
                <a:off x="5729" y="6709"/>
                <a:ext cx="1403" cy="24"/>
              </a:xfrm>
              <a:prstGeom prst="straightConnector1">
                <a:avLst/>
              </a:prstGeom>
              <a:ln>
                <a:headEnd type="triangle" w="med" len="med"/>
                <a:tailEnd type="none" w="lg" len="med"/>
              </a:ln>
            </p:spPr>
            <p:style>
              <a:lnRef idx="3">
                <a:schemeClr val="dk1"/>
              </a:lnRef>
              <a:fillRef idx="0">
                <a:schemeClr val="dk1"/>
              </a:fillRef>
              <a:effectRef idx="2">
                <a:schemeClr val="dk1"/>
              </a:effectRef>
              <a:fontRef idx="minor">
                <a:schemeClr val="tx1"/>
              </a:fontRef>
            </p:style>
          </p:cxnSp>
          <p:cxnSp>
            <p:nvCxnSpPr>
              <p:cNvPr id="8" name="直接箭头连接符 7"/>
              <p:cNvCxnSpPr/>
              <p:nvPr/>
            </p:nvCxnSpPr>
            <p:spPr>
              <a:xfrm flipV="1">
                <a:off x="11885" y="6054"/>
                <a:ext cx="1296" cy="655"/>
              </a:xfrm>
              <a:prstGeom prst="straightConnector1">
                <a:avLst/>
              </a:prstGeom>
              <a:ln>
                <a:headEnd type="none" w="lg" len="med"/>
                <a:tailEnd type="triangle" w="med" len="med"/>
              </a:ln>
            </p:spPr>
            <p:style>
              <a:lnRef idx="3">
                <a:schemeClr val="dk1"/>
              </a:lnRef>
              <a:fillRef idx="0">
                <a:schemeClr val="dk1"/>
              </a:fillRef>
              <a:effectRef idx="2">
                <a:schemeClr val="dk1"/>
              </a:effectRef>
              <a:fontRef idx="minor">
                <a:schemeClr val="tx1"/>
              </a:fontRef>
            </p:style>
          </p:cxnSp>
          <p:cxnSp>
            <p:nvCxnSpPr>
              <p:cNvPr id="9" name="直接箭头连接符 8"/>
              <p:cNvCxnSpPr/>
              <p:nvPr/>
            </p:nvCxnSpPr>
            <p:spPr>
              <a:xfrm>
                <a:off x="11885" y="6709"/>
                <a:ext cx="1328" cy="889"/>
              </a:xfrm>
              <a:prstGeom prst="straightConnector1">
                <a:avLst/>
              </a:prstGeom>
              <a:ln>
                <a:headEnd type="none" w="lg" len="med"/>
                <a:tailEnd type="triangle" w="med" len="med"/>
              </a:ln>
            </p:spPr>
            <p:style>
              <a:lnRef idx="3">
                <a:schemeClr val="dk1"/>
              </a:lnRef>
              <a:fillRef idx="0">
                <a:schemeClr val="dk1"/>
              </a:fillRef>
              <a:effectRef idx="2">
                <a:schemeClr val="dk1"/>
              </a:effectRef>
              <a:fontRef idx="minor">
                <a:schemeClr val="tx1"/>
              </a:fontRef>
            </p:style>
          </p:cxnSp>
          <p:sp>
            <p:nvSpPr>
              <p:cNvPr id="10" name="文本框 9"/>
              <p:cNvSpPr txBox="1"/>
              <p:nvPr/>
            </p:nvSpPr>
            <p:spPr>
              <a:xfrm>
                <a:off x="13174" y="5851"/>
                <a:ext cx="2134" cy="671"/>
              </a:xfrm>
              <a:prstGeom prst="rect">
                <a:avLst/>
              </a:prstGeom>
              <a:noFill/>
            </p:spPr>
            <p:txBody>
              <a:bodyPr wrap="square" rtlCol="0">
                <a:spAutoFit/>
              </a:bodyPr>
              <a:p>
                <a:r>
                  <a:rPr lang="en-US" altLang="zh-CN"/>
                  <a:t>P(cat|x)</a:t>
                </a:r>
                <a:endParaRPr lang="zh-CN" altLang="en-US"/>
              </a:p>
            </p:txBody>
          </p:sp>
          <p:sp>
            <p:nvSpPr>
              <p:cNvPr id="11" name="文本框 10"/>
              <p:cNvSpPr txBox="1"/>
              <p:nvPr/>
            </p:nvSpPr>
            <p:spPr>
              <a:xfrm>
                <a:off x="13098" y="7297"/>
                <a:ext cx="2386" cy="607"/>
              </a:xfrm>
              <a:prstGeom prst="rect">
                <a:avLst/>
              </a:prstGeom>
              <a:noFill/>
            </p:spPr>
            <p:txBody>
              <a:bodyPr wrap="square" rtlCol="0">
                <a:spAutoFit/>
              </a:bodyPr>
              <a:p>
                <a:r>
                  <a:rPr lang="en-US" altLang="zh-CN"/>
                  <a:t>P(dog|x)</a:t>
                </a:r>
                <a:endParaRPr lang="en-US" altLang="zh-CN"/>
              </a:p>
            </p:txBody>
          </p:sp>
          <p:cxnSp>
            <p:nvCxnSpPr>
              <p:cNvPr id="12" name="直接箭头连接符 11"/>
              <p:cNvCxnSpPr>
                <a:endCxn id="13" idx="1"/>
              </p:cNvCxnSpPr>
              <p:nvPr/>
            </p:nvCxnSpPr>
            <p:spPr>
              <a:xfrm flipV="1">
                <a:off x="11669" y="4801"/>
                <a:ext cx="2105" cy="1440"/>
              </a:xfrm>
              <a:prstGeom prst="straightConnector1">
                <a:avLst/>
              </a:prstGeom>
              <a:ln>
                <a:solidFill>
                  <a:srgbClr val="FF0000"/>
                </a:solidFill>
                <a:headEnd type="none" w="lg" len="med"/>
                <a:tailEnd type="triangle" w="med" len="med"/>
              </a:ln>
            </p:spPr>
            <p:style>
              <a:lnRef idx="3">
                <a:schemeClr val="dk1"/>
              </a:lnRef>
              <a:fillRef idx="0">
                <a:schemeClr val="dk1"/>
              </a:fillRef>
              <a:effectRef idx="2">
                <a:schemeClr val="dk1"/>
              </a:effectRef>
              <a:fontRef idx="minor">
                <a:schemeClr val="tx1"/>
              </a:fontRef>
            </p:style>
          </p:cxnSp>
          <p:sp>
            <p:nvSpPr>
              <p:cNvPr id="13" name="文本框 12"/>
              <p:cNvSpPr txBox="1"/>
              <p:nvPr/>
            </p:nvSpPr>
            <p:spPr>
              <a:xfrm>
                <a:off x="13774" y="4465"/>
                <a:ext cx="2386" cy="671"/>
              </a:xfrm>
              <a:prstGeom prst="rect">
                <a:avLst/>
              </a:prstGeom>
              <a:noFill/>
            </p:spPr>
            <p:txBody>
              <a:bodyPr wrap="square" rtlCol="0">
                <a:spAutoFit/>
              </a:bodyPr>
              <a:p>
                <a:r>
                  <a:rPr lang="en-US" altLang="zh-CN" dirty="0">
                    <a:solidFill>
                      <a:srgbClr val="FF0000"/>
                    </a:solidFill>
                  </a:rPr>
                  <a:t>Uncertainty</a:t>
                </a:r>
                <a:endParaRPr lang="en-US" altLang="zh-CN" dirty="0">
                  <a:solidFill>
                    <a:srgbClr val="FF0000"/>
                  </a:solidFill>
                </a:endParaRPr>
              </a:p>
            </p:txBody>
          </p:sp>
        </p:grpSp>
        <p:grpSp>
          <p:nvGrpSpPr>
            <p:cNvPr id="19" name="组合 18"/>
            <p:cNvGrpSpPr/>
            <p:nvPr/>
          </p:nvGrpSpPr>
          <p:grpSpPr>
            <a:xfrm>
              <a:off x="6269" y="8768"/>
              <a:ext cx="6013" cy="1253"/>
              <a:chOff x="11260" y="3957"/>
              <a:chExt cx="6013" cy="1253"/>
            </a:xfrm>
          </p:grpSpPr>
          <p:sp>
            <p:nvSpPr>
              <p:cNvPr id="16" name="椭圆 15"/>
              <p:cNvSpPr/>
              <p:nvPr/>
            </p:nvSpPr>
            <p:spPr>
              <a:xfrm>
                <a:off x="11260" y="3957"/>
                <a:ext cx="6013" cy="1253"/>
              </a:xfrm>
              <a:prstGeom prst="ellipse">
                <a:avLst/>
              </a:prstGeom>
              <a:solidFill>
                <a:schemeClr val="accent1">
                  <a:lumMod val="60000"/>
                  <a:lumOff val="40000"/>
                </a:schemeClr>
              </a:solidFill>
              <a:ln>
                <a:solidFill>
                  <a:schemeClr val="accent1"/>
                </a:solidFill>
              </a:ln>
            </p:spPr>
            <p:txBody>
              <a:bodyPr wrap="square">
                <a:spAutoFit/>
              </a:bodyPr>
              <a:p>
                <a:endParaRPr lang="zh-CN" altLang="en-US" sz="2400" dirty="0"/>
              </a:p>
            </p:txBody>
          </p:sp>
          <p:sp>
            <p:nvSpPr>
              <p:cNvPr id="18" name="文本框 17"/>
              <p:cNvSpPr txBox="1"/>
              <p:nvPr/>
            </p:nvSpPr>
            <p:spPr>
              <a:xfrm>
                <a:off x="11663" y="4278"/>
                <a:ext cx="5437" cy="617"/>
              </a:xfrm>
              <a:prstGeom prst="rect">
                <a:avLst/>
              </a:prstGeom>
              <a:noFill/>
              <a:ln>
                <a:noFill/>
              </a:ln>
            </p:spPr>
            <p:txBody>
              <a:bodyPr wrap="square" rtlCol="0">
                <a:spAutoFit/>
              </a:bodyPr>
              <a:p>
                <a:pPr algn="l"/>
                <a:r>
                  <a:rPr lang="zh-CN" altLang="en-US" sz="1600" dirty="0"/>
                  <a:t>Knowing What</a:t>
                </a:r>
                <a:r>
                  <a:rPr lang="en-US" altLang="zh-CN" sz="1600" dirty="0"/>
                  <a:t> </a:t>
                </a:r>
                <a:r>
                  <a:rPr lang="zh-CN" altLang="en-US" sz="1600" dirty="0"/>
                  <a:t>We Don’t Know</a:t>
                </a:r>
                <a:endParaRPr lang="zh-CN" altLang="en-US" sz="1600" dirty="0"/>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背景介绍</a:t>
            </a:r>
            <a:endParaRPr lang="zh-CN" altLang="en-US"/>
          </a:p>
        </p:txBody>
      </p:sp>
      <p:sp>
        <p:nvSpPr>
          <p:cNvPr id="3" name="文本框 2"/>
          <p:cNvSpPr txBox="1"/>
          <p:nvPr/>
        </p:nvSpPr>
        <p:spPr>
          <a:xfrm>
            <a:off x="609600" y="1066800"/>
            <a:ext cx="10795000" cy="1660525"/>
          </a:xfrm>
          <a:prstGeom prst="rect">
            <a:avLst/>
          </a:prstGeom>
          <a:noFill/>
        </p:spPr>
        <p:txBody>
          <a:bodyPr wrap="square" rtlCol="0">
            <a:spAutoFit/>
          </a:bodyPr>
          <a:p>
            <a:pPr marL="285750" lvl="0" indent="-285750" algn="just">
              <a:lnSpc>
                <a:spcPts val="2460"/>
              </a:lnSpc>
              <a:spcAft>
                <a:spcPts val="1200"/>
              </a:spcAft>
              <a:buFont typeface="Wingdings" panose="05000000000000000000" pitchFamily="2" charset="2"/>
              <a:buChar char="Ø"/>
            </a:pPr>
            <a:r>
              <a:rPr lang="zh-CN" altLang="en-US" dirty="0">
                <a:sym typeface="+mn-ea"/>
              </a:rPr>
              <a:t>不确定性的分类</a:t>
            </a:r>
            <a:endParaRPr lang="en-US" altLang="zh-CN" b="1" kern="100" dirty="0">
              <a:latin typeface="Times New Roman" panose="02020603050405020304" pitchFamily="18" charset="0"/>
              <a:ea typeface="宋体" pitchFamily="2" charset="-122"/>
              <a:cs typeface="Times New Roman" panose="02020603050405020304" pitchFamily="18" charset="0"/>
              <a:sym typeface="+mn-ea"/>
            </a:endParaRPr>
          </a:p>
          <a:p>
            <a:pPr marL="742950" lvl="1" indent="-285750" algn="just">
              <a:lnSpc>
                <a:spcPts val="2460"/>
              </a:lnSpc>
              <a:spcAft>
                <a:spcPts val="1200"/>
              </a:spcAft>
              <a:buFont typeface="Wingdings" panose="05000000000000000000" charset="0"/>
              <a:buChar char=""/>
            </a:pPr>
            <a:r>
              <a:rPr lang="en-US" altLang="zh-CN" kern="100" dirty="0">
                <a:latin typeface="+mn-ea"/>
                <a:cs typeface="Times New Roman" panose="02020603050405020304" pitchFamily="18" charset="0"/>
                <a:sym typeface="+mn-ea"/>
              </a:rPr>
              <a:t>Aleatoric/Data uncertainty</a:t>
            </a:r>
            <a:r>
              <a:rPr lang="zh-CN" altLang="en-US" kern="100" dirty="0">
                <a:latin typeface="宋体" pitchFamily="2" charset="-122"/>
                <a:ea typeface="宋体" pitchFamily="2" charset="-122"/>
                <a:sym typeface="+mn-ea"/>
              </a:rPr>
              <a:t>：数据本身固有的噪声所导致的不确定性，</a:t>
            </a:r>
            <a:r>
              <a:rPr lang="zh-CN" altLang="en-US" kern="100" dirty="0">
                <a:latin typeface="+mn-ea"/>
                <a:sym typeface="+mn-ea"/>
              </a:rPr>
              <a:t>来源于数据噪声，无法消除</a:t>
            </a:r>
            <a:endParaRPr lang="zh-CN" altLang="en-US" kern="100" dirty="0">
              <a:latin typeface="+mn-ea"/>
              <a:sym typeface="+mn-ea"/>
            </a:endParaRPr>
          </a:p>
          <a:p>
            <a:pPr marL="742950" lvl="1" indent="-285750" algn="just">
              <a:lnSpc>
                <a:spcPts val="2460"/>
              </a:lnSpc>
              <a:spcAft>
                <a:spcPts val="1200"/>
              </a:spcAft>
              <a:buFont typeface="Wingdings" panose="05000000000000000000" charset="0"/>
              <a:buChar char=""/>
            </a:pPr>
            <a:r>
              <a:rPr lang="en-US" altLang="zh-CN" kern="100" dirty="0">
                <a:latin typeface="+mn-ea"/>
                <a:cs typeface="Times New Roman" panose="02020603050405020304" pitchFamily="18" charset="0"/>
                <a:sym typeface="+mn-ea"/>
              </a:rPr>
              <a:t>Epistemic/Model uncertainty</a:t>
            </a:r>
            <a:r>
              <a:rPr lang="zh-CN" altLang="en-US" kern="100" dirty="0">
                <a:latin typeface="+mn-ea"/>
                <a:sym typeface="+mn-ea"/>
              </a:rPr>
              <a:t>：表示模型对数据的理解和学习程度，</a:t>
            </a:r>
            <a:r>
              <a:rPr lang="zh-CN" kern="100" dirty="0">
                <a:latin typeface="+mn-ea"/>
                <a:sym typeface="+mn-ea"/>
              </a:rPr>
              <a:t>来源于模型结构和训练方式，可以通过增加训练数据或者改进模型减少</a:t>
            </a:r>
            <a:endParaRPr lang="en-US" altLang="zh-CN" kern="100" dirty="0">
              <a:latin typeface="+mn-ea"/>
              <a:sym typeface="+mn-ea"/>
            </a:endParaRPr>
          </a:p>
        </p:txBody>
      </p:sp>
      <p:pic>
        <p:nvPicPr>
          <p:cNvPr id="4" name="图片 3"/>
          <p:cNvPicPr>
            <a:picLocks noChangeAspect="1"/>
          </p:cNvPicPr>
          <p:nvPr/>
        </p:nvPicPr>
        <p:blipFill>
          <a:blip r:embed="rId1"/>
          <a:stretch>
            <a:fillRect/>
          </a:stretch>
        </p:blipFill>
        <p:spPr>
          <a:xfrm>
            <a:off x="5562600" y="2971800"/>
            <a:ext cx="5766435" cy="3044190"/>
          </a:xfrm>
          <a:prstGeom prst="rect">
            <a:avLst/>
          </a:prstGeom>
        </p:spPr>
      </p:pic>
      <p:pic>
        <p:nvPicPr>
          <p:cNvPr id="5" name="图片 4"/>
          <p:cNvPicPr>
            <a:picLocks noChangeAspect="1"/>
          </p:cNvPicPr>
          <p:nvPr/>
        </p:nvPicPr>
        <p:blipFill>
          <a:blip r:embed="rId2"/>
          <a:stretch>
            <a:fillRect/>
          </a:stretch>
        </p:blipFill>
        <p:spPr>
          <a:xfrm>
            <a:off x="990600" y="3276600"/>
            <a:ext cx="4114800" cy="2609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研究现状</a:t>
            </a:r>
            <a:endParaRPr lang="zh-CN" altLang="en-US"/>
          </a:p>
        </p:txBody>
      </p:sp>
      <p:sp>
        <p:nvSpPr>
          <p:cNvPr id="9" name="TextBox 11"/>
          <p:cNvSpPr txBox="1"/>
          <p:nvPr/>
        </p:nvSpPr>
        <p:spPr>
          <a:xfrm>
            <a:off x="534035" y="1202055"/>
            <a:ext cx="10752455" cy="4453890"/>
          </a:xfrm>
          <a:prstGeom prst="rect">
            <a:avLst/>
          </a:prstGeom>
          <a:noFill/>
        </p:spPr>
        <p:txBody>
          <a:bodyPr wrap="square">
            <a:spAutoFit/>
          </a:bodyPr>
          <a:p>
            <a:pPr marL="285750" lvl="0" indent="-285750" algn="just">
              <a:lnSpc>
                <a:spcPct val="150000"/>
              </a:lnSpc>
              <a:buFont typeface="Wingdings" panose="05000000000000000000" charset="0"/>
              <a:buChar char=""/>
            </a:pPr>
            <a:r>
              <a:rPr lang="zh-CN" altLang="zh-CN" sz="1800" kern="100" dirty="0">
                <a:effectLst/>
                <a:latin typeface="+mn-ea"/>
                <a:cs typeface="+mn-ea"/>
              </a:rPr>
              <a:t>对于不确定性的建模，根据是单个</a:t>
            </a:r>
            <a:r>
              <a:rPr lang="zh-CN" altLang="en-US" kern="100" dirty="0">
                <a:latin typeface="+mn-ea"/>
                <a:cs typeface="+mn-ea"/>
              </a:rPr>
              <a:t>模型</a:t>
            </a:r>
            <a:r>
              <a:rPr lang="zh-CN" altLang="zh-CN" sz="1800" kern="100" dirty="0">
                <a:effectLst/>
                <a:latin typeface="+mn-ea"/>
                <a:cs typeface="+mn-ea"/>
              </a:rPr>
              <a:t>还是多个</a:t>
            </a:r>
            <a:r>
              <a:rPr lang="zh-CN" altLang="en-US" kern="100" dirty="0">
                <a:latin typeface="+mn-ea"/>
                <a:cs typeface="+mn-ea"/>
              </a:rPr>
              <a:t>模型</a:t>
            </a:r>
            <a:r>
              <a:rPr lang="zh-CN" altLang="zh-CN" sz="1800" kern="100" dirty="0">
                <a:effectLst/>
                <a:latin typeface="+mn-ea"/>
                <a:cs typeface="+mn-ea"/>
              </a:rPr>
              <a:t>，是确定性</a:t>
            </a:r>
            <a:r>
              <a:rPr lang="zh-CN" altLang="en-US" kern="100" dirty="0">
                <a:latin typeface="+mn-ea"/>
                <a:cs typeface="+mn-ea"/>
              </a:rPr>
              <a:t>模型</a:t>
            </a:r>
            <a:r>
              <a:rPr lang="zh-CN" altLang="zh-CN" sz="1800" kern="100" dirty="0">
                <a:effectLst/>
                <a:latin typeface="+mn-ea"/>
                <a:cs typeface="+mn-ea"/>
              </a:rPr>
              <a:t>还是随机的模型，主要可以分类下面四类方法</a:t>
            </a:r>
            <a:r>
              <a:rPr lang="en-US" altLang="zh-CN" sz="1800" kern="100" dirty="0">
                <a:effectLst/>
                <a:latin typeface="+mn-ea"/>
                <a:cs typeface="+mn-ea"/>
              </a:rPr>
              <a:t>:</a:t>
            </a:r>
            <a:endParaRPr lang="zh-CN" altLang="zh-CN" sz="1800" b="1" kern="100" dirty="0">
              <a:effectLst/>
              <a:latin typeface="+mn-ea"/>
              <a:cs typeface="+mn-ea"/>
            </a:endParaRPr>
          </a:p>
          <a:p>
            <a:pPr marL="742950" lvl="1" indent="-285750" algn="just">
              <a:lnSpc>
                <a:spcPct val="150000"/>
              </a:lnSpc>
              <a:buFont typeface="Wingdings" panose="05000000000000000000" charset="0"/>
              <a:buChar char=""/>
            </a:pPr>
            <a:r>
              <a:rPr lang="zh-CN" altLang="zh-CN" sz="1800" b="1" kern="100" dirty="0">
                <a:effectLst/>
                <a:latin typeface="+mn-ea"/>
                <a:cs typeface="+mn-ea"/>
              </a:rPr>
              <a:t>贝叶斯方法</a:t>
            </a:r>
            <a:r>
              <a:rPr lang="en-US" altLang="zh-CN" sz="1800" b="1" kern="100" dirty="0">
                <a:effectLst/>
                <a:latin typeface="+mn-ea"/>
                <a:cs typeface="+mn-ea"/>
              </a:rPr>
              <a:t>(Bayesian methods):</a:t>
            </a:r>
            <a:r>
              <a:rPr altLang="zh-CN" sz="1800" kern="100" dirty="0">
                <a:effectLst/>
                <a:latin typeface="+mn-ea"/>
                <a:cs typeface="+mn-ea"/>
              </a:rPr>
              <a:t>在BNN网络中，认为每一个权重不再是某个具体的数值，而是一个概率分布</a:t>
            </a:r>
            <a:endParaRPr altLang="zh-CN" sz="1800" kern="100" dirty="0">
              <a:effectLst/>
              <a:latin typeface="+mn-ea"/>
              <a:cs typeface="+mn-ea"/>
            </a:endParaRPr>
          </a:p>
          <a:p>
            <a:pPr marL="742950" lvl="1" indent="-285750" algn="just">
              <a:lnSpc>
                <a:spcPct val="150000"/>
              </a:lnSpc>
              <a:buFont typeface="Wingdings" panose="05000000000000000000" charset="0"/>
              <a:buChar char=""/>
            </a:pPr>
            <a:r>
              <a:rPr lang="zh-CN" altLang="zh-CN" sz="1800" b="1" kern="100" dirty="0">
                <a:effectLst/>
                <a:latin typeface="+mn-ea"/>
                <a:cs typeface="+mn-ea"/>
              </a:rPr>
              <a:t>集成方法</a:t>
            </a:r>
            <a:r>
              <a:rPr lang="en-US" altLang="zh-CN" sz="1800" b="1" kern="100" dirty="0">
                <a:effectLst/>
                <a:latin typeface="+mn-ea"/>
                <a:cs typeface="+mn-ea"/>
              </a:rPr>
              <a:t>(Ensemble methods):</a:t>
            </a:r>
            <a:r>
              <a:rPr lang="zh-CN" altLang="zh-CN" sz="1800" kern="100" dirty="0">
                <a:effectLst/>
                <a:latin typeface="+mn-ea"/>
                <a:cs typeface="+mn-ea"/>
              </a:rPr>
              <a:t>推理时结合了几个不同的确定性网络的预测</a:t>
            </a:r>
            <a:endParaRPr lang="en-US" altLang="zh-CN" sz="1800" kern="100" dirty="0">
              <a:effectLst/>
              <a:latin typeface="+mn-ea"/>
              <a:cs typeface="+mn-ea"/>
            </a:endParaRPr>
          </a:p>
          <a:p>
            <a:pPr marL="742950" lvl="1" indent="-285750" algn="just">
              <a:lnSpc>
                <a:spcPct val="150000"/>
              </a:lnSpc>
              <a:buFont typeface="Wingdings" panose="05000000000000000000" charset="0"/>
              <a:buChar char=""/>
            </a:pPr>
            <a:r>
              <a:rPr lang="zh-CN" altLang="zh-CN" sz="1800" b="1" kern="100" dirty="0">
                <a:effectLst/>
                <a:latin typeface="+mn-ea"/>
                <a:cs typeface="+mn-ea"/>
              </a:rPr>
              <a:t>单一确定性方法</a:t>
            </a:r>
            <a:r>
              <a:rPr lang="en-US" altLang="zh-CN" sz="1800" b="1" kern="100" dirty="0">
                <a:effectLst/>
                <a:latin typeface="+mn-ea"/>
                <a:cs typeface="+mn-ea"/>
              </a:rPr>
              <a:t>(Single deterministic methods):</a:t>
            </a:r>
            <a:r>
              <a:rPr lang="zh-CN" altLang="zh-CN" sz="1800" kern="100" dirty="0">
                <a:effectLst/>
                <a:latin typeface="+mn-ea"/>
                <a:cs typeface="+mn-ea"/>
              </a:rPr>
              <a:t>给出基于确定性网络中单次前向传播的预测。</a:t>
            </a:r>
            <a:endParaRPr lang="zh-CN" altLang="zh-CN" sz="1800" kern="100" dirty="0">
              <a:effectLst/>
              <a:latin typeface="+mn-ea"/>
              <a:cs typeface="+mn-ea"/>
            </a:endParaRPr>
          </a:p>
          <a:p>
            <a:pPr marL="742950" lvl="1" indent="-285750" algn="just">
              <a:lnSpc>
                <a:spcPct val="150000"/>
              </a:lnSpc>
              <a:buFont typeface="Wingdings" panose="05000000000000000000" charset="0"/>
              <a:buChar char=""/>
            </a:pPr>
            <a:r>
              <a:rPr lang="zh-CN" altLang="zh-CN" sz="1800" b="1" kern="100" dirty="0">
                <a:effectLst/>
                <a:latin typeface="+mn-ea"/>
                <a:cs typeface="+mn-ea"/>
              </a:rPr>
              <a:t>测试增强方法</a:t>
            </a:r>
            <a:r>
              <a:rPr lang="en-US" altLang="zh-CN" sz="1800" b="1" kern="100" dirty="0">
                <a:effectLst/>
                <a:latin typeface="+mn-ea"/>
                <a:cs typeface="+mn-ea"/>
              </a:rPr>
              <a:t>(Test-time augmentation methods):</a:t>
            </a:r>
            <a:r>
              <a:rPr lang="zh-CN" altLang="zh-CN" sz="1800" kern="100" dirty="0">
                <a:effectLst/>
                <a:latin typeface="+mn-ea"/>
                <a:cs typeface="+mn-ea"/>
              </a:rPr>
              <a:t>基于单个确定性网络的预测，但在测试时增强输入数据，以生成几个预测，用于评估预测的确定性。</a:t>
            </a:r>
            <a:endParaRPr lang="zh-CN" altLang="zh-CN" sz="1500" kern="100" dirty="0">
              <a:effectLst/>
              <a:latin typeface="+mn-ea"/>
              <a:cs typeface="+mn-ea"/>
            </a:endParaRPr>
          </a:p>
          <a:p>
            <a:pPr marL="742950" lvl="1" indent="-285750" algn="just">
              <a:lnSpc>
                <a:spcPct val="150000"/>
              </a:lnSpc>
              <a:buFont typeface="Wingdings" panose="05000000000000000000" charset="0"/>
              <a:buChar char=""/>
            </a:pPr>
            <a:endParaRPr lang="zh-CN" altLang="zh-CN" sz="1500" b="1" kern="100" dirty="0">
              <a:solidFill>
                <a:srgbClr val="C00000"/>
              </a:solidFill>
              <a:effectLst/>
              <a:latin typeface="+mn-ea"/>
              <a:cs typeface="+mn-ea"/>
            </a:endParaRPr>
          </a:p>
          <a:p>
            <a:pPr marL="285750" lvl="0" indent="-285750" algn="just">
              <a:lnSpc>
                <a:spcPct val="150000"/>
              </a:lnSpc>
              <a:buFont typeface="Wingdings" panose="05000000000000000000" charset="0"/>
              <a:buChar char=""/>
            </a:pPr>
            <a:endParaRPr lang="zh-CN" altLang="zh-CN" sz="1500" b="1" kern="100" dirty="0">
              <a:solidFill>
                <a:srgbClr val="C00000"/>
              </a:solidFill>
              <a:effectLst/>
              <a:latin typeface="Times New Roman" panose="02020603050405020304" pitchFamily="18" charset="0"/>
              <a:ea typeface="宋体" pitchFamily="2" charset="-122"/>
            </a:endParaRPr>
          </a:p>
          <a:p>
            <a:pPr marL="0" lvl="0" indent="0" algn="just">
              <a:lnSpc>
                <a:spcPct val="150000"/>
              </a:lnSpc>
              <a:buFont typeface="Wingdings" panose="05000000000000000000" charset="0"/>
              <a:buNone/>
            </a:pPr>
            <a:r>
              <a:rPr lang="en-US" altLang="zh-CN" sz="1500" kern="100" dirty="0">
                <a:effectLst/>
                <a:latin typeface="Times New Roman" panose="02020603050405020304" pitchFamily="18" charset="0"/>
                <a:ea typeface="宋体" pitchFamily="2" charset="-122"/>
              </a:rPr>
              <a:t>			</a:t>
            </a:r>
            <a:endParaRPr lang="zh-CN" altLang="zh-CN" sz="1500" kern="100" dirty="0">
              <a:effectLst/>
              <a:latin typeface="Times New Roman" panose="02020603050405020304" pitchFamily="18" charset="0"/>
              <a:ea typeface="宋体" pitchFamily="2" charset="-122"/>
            </a:endParaRPr>
          </a:p>
        </p:txBody>
      </p:sp>
      <p:pic>
        <p:nvPicPr>
          <p:cNvPr id="3" name="图片 2"/>
          <p:cNvPicPr>
            <a:picLocks noChangeAspect="1"/>
          </p:cNvPicPr>
          <p:nvPr/>
        </p:nvPicPr>
        <p:blipFill>
          <a:blip r:embed="rId1"/>
          <a:stretch>
            <a:fillRect/>
          </a:stretch>
        </p:blipFill>
        <p:spPr>
          <a:xfrm>
            <a:off x="2300605" y="4791710"/>
            <a:ext cx="3581400" cy="1647825"/>
          </a:xfrm>
          <a:prstGeom prst="rect">
            <a:avLst/>
          </a:prstGeom>
        </p:spPr>
      </p:pic>
      <p:graphicFrame>
        <p:nvGraphicFramePr>
          <p:cNvPr id="4" name="表格 3"/>
          <p:cNvGraphicFramePr/>
          <p:nvPr/>
        </p:nvGraphicFramePr>
        <p:xfrm>
          <a:off x="6720840" y="4519295"/>
          <a:ext cx="4937126" cy="1920240"/>
        </p:xfrm>
        <a:graphic>
          <a:graphicData uri="http://schemas.openxmlformats.org/drawingml/2006/table">
            <a:tbl>
              <a:tblPr firstRow="1" bandRow="1">
                <a:tableStyleId>{5C22544A-7EE6-4342-B048-85BDC9FD1C3A}</a:tableStyleId>
              </a:tblPr>
              <a:tblGrid>
                <a:gridCol w="1558181"/>
                <a:gridCol w="1198646"/>
                <a:gridCol w="2180299"/>
              </a:tblGrid>
              <a:tr h="631401">
                <a:tc>
                  <a:txBody>
                    <a:bodyPr/>
                    <a:p>
                      <a:pPr>
                        <a:buNone/>
                      </a:pPr>
                      <a:endParaRPr lang="en-US" altLang="zh-CN" dirty="0"/>
                    </a:p>
                  </a:txBody>
                  <a:tcPr/>
                </a:tc>
                <a:tc>
                  <a:txBody>
                    <a:bodyPr/>
                    <a:p>
                      <a:pPr>
                        <a:buNone/>
                      </a:pPr>
                      <a:r>
                        <a:rPr lang="en-US" altLang="zh-CN" dirty="0"/>
                        <a:t>Single Network</a:t>
                      </a:r>
                      <a:endParaRPr lang="en-US" altLang="zh-CN" dirty="0"/>
                    </a:p>
                  </a:txBody>
                  <a:tcPr/>
                </a:tc>
                <a:tc>
                  <a:txBody>
                    <a:bodyPr/>
                    <a:p>
                      <a:pPr>
                        <a:buNone/>
                      </a:pPr>
                      <a:r>
                        <a:rPr lang="en-US" altLang="zh-CN" dirty="0"/>
                        <a:t>Multiple Networks</a:t>
                      </a:r>
                      <a:endParaRPr lang="en-US" altLang="zh-CN" dirty="0"/>
                    </a:p>
                  </a:txBody>
                  <a:tcPr/>
                </a:tc>
              </a:tr>
              <a:tr h="631401">
                <a:tc>
                  <a:txBody>
                    <a:bodyPr/>
                    <a:p>
                      <a:pPr>
                        <a:buNone/>
                      </a:pPr>
                      <a:r>
                        <a:rPr lang="en-US" altLang="zh-CN">
                          <a:sym typeface="+mn-ea"/>
                        </a:rPr>
                        <a:t>Deterministic Network</a:t>
                      </a:r>
                      <a:endParaRPr lang="en-US" altLang="zh-CN"/>
                    </a:p>
                  </a:txBody>
                  <a:tcPr/>
                </a:tc>
                <a:tc>
                  <a:txBody>
                    <a:bodyPr/>
                    <a:p>
                      <a:pPr algn="ctr">
                        <a:buNone/>
                      </a:pPr>
                      <a:r>
                        <a:rPr lang="en-US" altLang="zh-CN"/>
                        <a:t>DDU</a:t>
                      </a:r>
                      <a:endParaRPr lang="en-US" altLang="zh-CN"/>
                    </a:p>
                  </a:txBody>
                  <a:tcPr/>
                </a:tc>
                <a:tc>
                  <a:txBody>
                    <a:bodyPr/>
                    <a:p>
                      <a:pPr algn="ctr">
                        <a:buNone/>
                      </a:pPr>
                      <a:r>
                        <a:rPr lang="en-US" altLang="zh-CN"/>
                        <a:t>Ensemble Methods</a:t>
                      </a:r>
                      <a:endParaRPr lang="en-US" altLang="zh-CN"/>
                    </a:p>
                  </a:txBody>
                  <a:tcPr/>
                </a:tc>
              </a:tr>
              <a:tr h="631401">
                <a:tc>
                  <a:txBody>
                    <a:bodyPr/>
                    <a:p>
                      <a:pPr>
                        <a:buNone/>
                      </a:pPr>
                      <a:r>
                        <a:rPr lang="en-US" altLang="zh-CN">
                          <a:sym typeface="+mn-ea"/>
                        </a:rPr>
                        <a:t>Stochastic Network</a:t>
                      </a:r>
                      <a:endParaRPr lang="en-US" altLang="zh-CN"/>
                    </a:p>
                  </a:txBody>
                  <a:tcPr/>
                </a:tc>
                <a:tc>
                  <a:txBody>
                    <a:bodyPr/>
                    <a:p>
                      <a:pPr algn="ctr">
                        <a:buNone/>
                      </a:pPr>
                      <a:r>
                        <a:rPr lang="en-US" altLang="zh-CN" dirty="0"/>
                        <a:t>BNN</a:t>
                      </a:r>
                      <a:endParaRPr lang="en-US" altLang="zh-CN" dirty="0"/>
                    </a:p>
                  </a:txBody>
                  <a:tcPr/>
                </a:tc>
                <a:tc>
                  <a:txBody>
                    <a:bodyPr/>
                    <a:p>
                      <a:pPr>
                        <a:buNone/>
                      </a:pPr>
                      <a:endParaRPr lang="en-US" altLang="zh-CN"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研究现状</a:t>
            </a:r>
            <a:endParaRPr lang="zh-CN" altLang="en-US"/>
          </a:p>
        </p:txBody>
      </p:sp>
      <p:sp>
        <p:nvSpPr>
          <p:cNvPr id="5" name="文本框 4"/>
          <p:cNvSpPr txBox="1"/>
          <p:nvPr/>
        </p:nvSpPr>
        <p:spPr>
          <a:xfrm>
            <a:off x="544830" y="1287145"/>
            <a:ext cx="10592435" cy="922020"/>
          </a:xfrm>
          <a:prstGeom prst="rect">
            <a:avLst/>
          </a:prstGeom>
          <a:noFill/>
        </p:spPr>
        <p:txBody>
          <a:bodyPr wrap="square" rtlCol="0">
            <a:spAutoFit/>
          </a:bodyPr>
          <a:p>
            <a:pPr marL="285750" indent="-285750">
              <a:buFont typeface="Wingdings" panose="05000000000000000000" charset="0"/>
              <a:buChar char=""/>
            </a:pPr>
            <a:r>
              <a:rPr lang="zh-CN" altLang="en-US" b="1" dirty="0"/>
              <a:t>问题来源</a:t>
            </a:r>
            <a:r>
              <a:rPr lang="en-US" altLang="zh-CN" dirty="0"/>
              <a:t>: </a:t>
            </a:r>
            <a:r>
              <a:rPr lang="zh-CN" altLang="en-US" dirty="0"/>
              <a:t>对于</a:t>
            </a:r>
            <a:r>
              <a:rPr lang="en-US" altLang="zh-CN" dirty="0"/>
              <a:t>Uncertainty</a:t>
            </a:r>
            <a:r>
              <a:rPr lang="zh-CN" altLang="en-US" dirty="0"/>
              <a:t>建模目前</a:t>
            </a:r>
            <a:r>
              <a:rPr lang="en-US" altLang="zh-CN" dirty="0">
                <a:highlight>
                  <a:srgbClr val="FFFF00"/>
                </a:highlight>
              </a:rPr>
              <a:t>Ensemble</a:t>
            </a:r>
            <a:r>
              <a:rPr lang="zh-CN" altLang="en-US" dirty="0">
                <a:highlight>
                  <a:srgbClr val="FFFF00"/>
                </a:highlight>
              </a:rPr>
              <a:t>方法</a:t>
            </a:r>
            <a:r>
              <a:rPr lang="zh-CN" altLang="en-US" dirty="0"/>
              <a:t>效果最好，但是多个模型对于计算和存储要求比较高</a:t>
            </a:r>
            <a:endParaRPr lang="zh-CN" altLang="en-US" dirty="0"/>
          </a:p>
          <a:p>
            <a:pPr marL="285750" indent="-285750">
              <a:buFont typeface="Wingdings" panose="05000000000000000000" charset="0"/>
              <a:buChar char=""/>
            </a:pPr>
            <a:endParaRPr lang="zh-CN" dirty="0"/>
          </a:p>
          <a:p>
            <a:pPr marL="285750" indent="-285750">
              <a:buFont typeface="Wingdings" panose="05000000000000000000" charset="0"/>
              <a:buChar char=""/>
            </a:pPr>
            <a:r>
              <a:rPr lang="zh-CN" dirty="0"/>
              <a:t>单个网络模型的</a:t>
            </a:r>
            <a:r>
              <a:rPr lang="en-US" altLang="zh-CN" dirty="0"/>
              <a:t>Uncertainty</a:t>
            </a:r>
            <a:r>
              <a:rPr lang="zh-CN" dirty="0"/>
              <a:t>建模方法：基于高维特征概率密度建模的不确定性估计</a:t>
            </a:r>
            <a:endParaRPr lang="en-US" dirty="0"/>
          </a:p>
        </p:txBody>
      </p:sp>
      <p:sp>
        <p:nvSpPr>
          <p:cNvPr id="26" name="文本框 25"/>
          <p:cNvSpPr txBox="1"/>
          <p:nvPr/>
        </p:nvSpPr>
        <p:spPr>
          <a:xfrm>
            <a:off x="595288" y="4257465"/>
            <a:ext cx="9474542" cy="646331"/>
          </a:xfrm>
          <a:prstGeom prst="rect">
            <a:avLst/>
          </a:prstGeom>
          <a:noFill/>
        </p:spPr>
        <p:txBody>
          <a:bodyPr wrap="square" rtlCol="0">
            <a:spAutoFit/>
          </a:bodyPr>
          <a:p>
            <a:pPr marL="285750" indent="-285750">
              <a:buFont typeface="Wingdings" panose="05000000000000000000" pitchFamily="2" charset="2"/>
              <a:buChar char="Ø"/>
            </a:pPr>
            <a:r>
              <a:rPr lang="zh-CN" altLang="en-US" b="1" dirty="0"/>
              <a:t>核心思想</a:t>
            </a:r>
            <a:r>
              <a:rPr lang="zh-CN" altLang="en-US" dirty="0"/>
              <a:t>：对每一类的高维特征</a:t>
            </a:r>
            <a:r>
              <a:rPr lang="en-US" altLang="zh-CN" dirty="0"/>
              <a:t>(</a:t>
            </a:r>
            <a:r>
              <a:rPr lang="zh-CN" altLang="en-US" dirty="0"/>
              <a:t>例如</a:t>
            </a:r>
            <a:r>
              <a:rPr lang="en-US" altLang="zh-CN" dirty="0"/>
              <a:t>: CNN</a:t>
            </a:r>
            <a:r>
              <a:rPr lang="zh-CN" altLang="en-US" dirty="0"/>
              <a:t>的倒数第二层</a:t>
            </a:r>
            <a:r>
              <a:rPr lang="en-US" altLang="zh-CN" dirty="0"/>
              <a:t>)</a:t>
            </a:r>
            <a:r>
              <a:rPr lang="zh-CN" altLang="en-US" dirty="0"/>
              <a:t>建模一个多元高斯分布，然后使用</a:t>
            </a:r>
            <a:r>
              <a:rPr lang="en-US" altLang="zh-CN" dirty="0"/>
              <a:t>log p(x)</a:t>
            </a:r>
            <a:r>
              <a:rPr lang="zh-CN" altLang="en-US" dirty="0"/>
              <a:t>度量模型不确定性</a:t>
            </a:r>
            <a:endParaRPr lang="zh-CN" altLang="en-US" dirty="0"/>
          </a:p>
        </p:txBody>
      </p:sp>
      <p:pic>
        <p:nvPicPr>
          <p:cNvPr id="4" name="图片 3"/>
          <p:cNvPicPr>
            <a:picLocks noChangeAspect="1"/>
          </p:cNvPicPr>
          <p:nvPr/>
        </p:nvPicPr>
        <p:blipFill>
          <a:blip r:embed="rId1"/>
          <a:stretch>
            <a:fillRect/>
          </a:stretch>
        </p:blipFill>
        <p:spPr>
          <a:xfrm>
            <a:off x="2667000" y="4876760"/>
            <a:ext cx="5422183" cy="1701421"/>
          </a:xfrm>
          <a:prstGeom prst="rect">
            <a:avLst/>
          </a:prstGeom>
        </p:spPr>
      </p:pic>
      <p:pic>
        <p:nvPicPr>
          <p:cNvPr id="3" name="图片 2"/>
          <p:cNvPicPr>
            <a:picLocks noChangeAspect="1"/>
          </p:cNvPicPr>
          <p:nvPr/>
        </p:nvPicPr>
        <p:blipFill>
          <a:blip r:embed="rId2"/>
          <a:stretch>
            <a:fillRect/>
          </a:stretch>
        </p:blipFill>
        <p:spPr>
          <a:xfrm>
            <a:off x="3505200" y="2209800"/>
            <a:ext cx="3331210" cy="1874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zh-CN" altLang="en-US"/>
          </a:p>
        </p:txBody>
      </p:sp>
      <p:sp>
        <p:nvSpPr>
          <p:cNvPr id="10" name="文本框 9"/>
          <p:cNvSpPr txBox="1"/>
          <p:nvPr/>
        </p:nvSpPr>
        <p:spPr>
          <a:xfrm>
            <a:off x="387985" y="1121410"/>
            <a:ext cx="10780395" cy="3969385"/>
          </a:xfrm>
          <a:prstGeom prst="rect">
            <a:avLst/>
          </a:prstGeom>
          <a:noFill/>
        </p:spPr>
        <p:txBody>
          <a:bodyPr wrap="square" rtlCol="0">
            <a:spAutoFit/>
          </a:bodyPr>
          <a:p>
            <a:pPr marL="285750" indent="-285750">
              <a:buFont typeface="Wingdings" panose="05000000000000000000" charset="0"/>
              <a:buChar char=""/>
            </a:pPr>
            <a:r>
              <a:rPr lang="en-US" altLang="zh-CN" dirty="0">
                <a:solidFill>
                  <a:schemeClr val="tx1"/>
                </a:solidFill>
                <a:latin typeface="+mn-ea"/>
                <a:cs typeface="+mn-ea"/>
              </a:rPr>
              <a:t>Motivation</a:t>
            </a:r>
            <a:r>
              <a:rPr lang="zh-CN" altLang="en-US" dirty="0">
                <a:solidFill>
                  <a:schemeClr val="tx1"/>
                </a:solidFill>
                <a:latin typeface="+mn-ea"/>
                <a:cs typeface="+mn-ea"/>
              </a:rPr>
              <a:t>：实验中观察到域内样本和</a:t>
            </a:r>
            <a:r>
              <a:rPr lang="en-US" altLang="zh-CN" dirty="0">
                <a:solidFill>
                  <a:schemeClr val="tx1"/>
                </a:solidFill>
                <a:latin typeface="+mn-ea"/>
                <a:cs typeface="+mn-ea"/>
              </a:rPr>
              <a:t>OOD</a:t>
            </a:r>
            <a:r>
              <a:rPr lang="zh-CN" altLang="en-US" dirty="0">
                <a:solidFill>
                  <a:schemeClr val="tx1"/>
                </a:solidFill>
                <a:latin typeface="+mn-ea"/>
                <a:cs typeface="+mn-ea"/>
              </a:rPr>
              <a:t>样本在</a:t>
            </a:r>
            <a:r>
              <a:rPr lang="zh-CN" altLang="en-US" b="1" dirty="0">
                <a:solidFill>
                  <a:schemeClr val="tx1"/>
                </a:solidFill>
                <a:latin typeface="+mn-ea"/>
                <a:cs typeface="+mn-ea"/>
              </a:rPr>
              <a:t>梯度空间</a:t>
            </a:r>
            <a:r>
              <a:rPr lang="zh-CN" altLang="en-US" dirty="0">
                <a:solidFill>
                  <a:schemeClr val="tx1"/>
                </a:solidFill>
                <a:latin typeface="+mn-ea"/>
                <a:cs typeface="+mn-ea"/>
              </a:rPr>
              <a:t>分布上存在着显著的差异</a:t>
            </a:r>
            <a:endParaRPr lang="en-US" altLang="zh-CN" dirty="0">
              <a:solidFill>
                <a:schemeClr val="tx1"/>
              </a:solidFill>
              <a:latin typeface="+mn-ea"/>
              <a:cs typeface="+mn-ea"/>
            </a:endParaRPr>
          </a:p>
          <a:p>
            <a:pPr marL="285750" indent="-285750">
              <a:buFont typeface="Wingdings" panose="05000000000000000000" charset="0"/>
              <a:buChar char=""/>
            </a:pPr>
            <a:endParaRPr lang="zh-CN" altLang="en-US" dirty="0">
              <a:solidFill>
                <a:schemeClr val="tx1"/>
              </a:solidFill>
              <a:latin typeface="+mn-ea"/>
              <a:cs typeface="+mn-ea"/>
            </a:endParaRPr>
          </a:p>
          <a:p>
            <a:pPr marL="285750" indent="-285750">
              <a:buFont typeface="Wingdings" panose="05000000000000000000" charset="0"/>
              <a:buChar char=""/>
            </a:pPr>
            <a:r>
              <a:rPr lang="zh-CN" altLang="en-US" dirty="0">
                <a:solidFill>
                  <a:schemeClr val="tx1"/>
                </a:solidFill>
                <a:latin typeface="+mn-ea"/>
                <a:cs typeface="+mn-ea"/>
              </a:rPr>
              <a:t>梯度空间：</a:t>
            </a:r>
            <a:r>
              <a:rPr lang="zh-CN" altLang="en-US" b="1" dirty="0">
                <a:solidFill>
                  <a:schemeClr val="tx1"/>
                </a:solidFill>
                <a:latin typeface="+mn-ea"/>
                <a:cs typeface="+mn-ea"/>
              </a:rPr>
              <a:t>对数概率密度</a:t>
            </a:r>
            <a:r>
              <a:rPr lang="zh-CN" altLang="en-US" dirty="0">
                <a:solidFill>
                  <a:schemeClr val="tx1"/>
                </a:solidFill>
                <a:latin typeface="+mn-ea"/>
                <a:cs typeface="+mn-ea"/>
              </a:rPr>
              <a:t>关于</a:t>
            </a:r>
            <a:r>
              <a:rPr lang="zh-CN" altLang="en-US" b="1" dirty="0">
                <a:solidFill>
                  <a:schemeClr val="tx1"/>
                </a:solidFill>
                <a:latin typeface="+mn-ea"/>
                <a:cs typeface="+mn-ea"/>
              </a:rPr>
              <a:t>输入图片</a:t>
            </a:r>
            <a:r>
              <a:rPr lang="zh-CN" altLang="en-US" dirty="0">
                <a:solidFill>
                  <a:schemeClr val="tx1"/>
                </a:solidFill>
                <a:latin typeface="+mn-ea"/>
                <a:cs typeface="+mn-ea"/>
              </a:rPr>
              <a:t>的梯度</a:t>
            </a: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p:txBody>
      </p:sp>
      <p:pic>
        <p:nvPicPr>
          <p:cNvPr id="7" name="图片 6"/>
          <p:cNvPicPr>
            <a:picLocks noChangeAspect="1"/>
          </p:cNvPicPr>
          <p:nvPr/>
        </p:nvPicPr>
        <p:blipFill>
          <a:blip r:embed="rId1"/>
          <a:stretch>
            <a:fillRect/>
          </a:stretch>
        </p:blipFill>
        <p:spPr>
          <a:xfrm>
            <a:off x="3048000" y="2362200"/>
            <a:ext cx="4695825" cy="37909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en-US" altLang="zh-CN"/>
          </a:p>
        </p:txBody>
      </p:sp>
      <p:sp>
        <p:nvSpPr>
          <p:cNvPr id="3" name="文本框 2"/>
          <p:cNvSpPr txBox="1"/>
          <p:nvPr/>
        </p:nvSpPr>
        <p:spPr>
          <a:xfrm>
            <a:off x="453390" y="1113155"/>
            <a:ext cx="10592435" cy="645160"/>
          </a:xfrm>
          <a:prstGeom prst="rect">
            <a:avLst/>
          </a:prstGeom>
          <a:noFill/>
        </p:spPr>
        <p:txBody>
          <a:bodyPr wrap="square" rtlCol="0">
            <a:spAutoFit/>
          </a:bodyPr>
          <a:p>
            <a:pPr marL="285750" indent="-285750">
              <a:buFont typeface="Wingdings" panose="05000000000000000000" charset="0"/>
              <a:buChar char=""/>
            </a:pPr>
            <a:r>
              <a:rPr lang="zh-CN">
                <a:latin typeface="+mn-ea"/>
                <a:cs typeface="+mn-ea"/>
              </a:rPr>
              <a:t>实验</a:t>
            </a:r>
            <a:r>
              <a:rPr lang="en-US" altLang="zh-CN">
                <a:latin typeface="+mn-ea"/>
                <a:cs typeface="+mn-ea"/>
              </a:rPr>
              <a:t>: </a:t>
            </a:r>
            <a:r>
              <a:rPr lang="zh-CN" altLang="en-US">
                <a:latin typeface="+mn-ea"/>
                <a:cs typeface="+mn-ea"/>
              </a:rPr>
              <a:t>统计</a:t>
            </a:r>
            <a:r>
              <a:rPr lang="zh-CN" altLang="en-US">
                <a:highlight>
                  <a:srgbClr val="FFFF00"/>
                </a:highlight>
                <a:latin typeface="+mn-ea"/>
                <a:cs typeface="+mn-ea"/>
              </a:rPr>
              <a:t>对数概率密度</a:t>
            </a:r>
            <a:r>
              <a:rPr lang="zh-CN" altLang="en-US">
                <a:latin typeface="+mn-ea"/>
                <a:cs typeface="+mn-ea"/>
              </a:rPr>
              <a:t>关于输入的梯度响应图</a:t>
            </a:r>
            <a:endParaRPr lang="zh-CN" altLang="en-US">
              <a:latin typeface="+mn-ea"/>
              <a:cs typeface="+mn-ea"/>
            </a:endParaRPr>
          </a:p>
          <a:p>
            <a:pPr marL="285750" indent="-285750">
              <a:buFont typeface="Wingdings" panose="05000000000000000000" charset="0"/>
              <a:buChar char=""/>
            </a:pPr>
            <a:r>
              <a:rPr lang="zh-CN">
                <a:latin typeface="+mn-ea"/>
                <a:cs typeface="+mn-ea"/>
              </a:rPr>
              <a:t>实验设置：在</a:t>
            </a:r>
            <a:r>
              <a:rPr lang="en-US" altLang="zh-CN">
                <a:latin typeface="+mn-ea"/>
                <a:cs typeface="+mn-ea"/>
              </a:rPr>
              <a:t>CIFAR10</a:t>
            </a:r>
            <a:r>
              <a:rPr lang="zh-CN" altLang="en-US">
                <a:latin typeface="+mn-ea"/>
                <a:cs typeface="+mn-ea"/>
              </a:rPr>
              <a:t>上训练</a:t>
            </a:r>
            <a:r>
              <a:rPr lang="en-US" altLang="zh-CN">
                <a:latin typeface="+mn-ea"/>
                <a:cs typeface="+mn-ea"/>
              </a:rPr>
              <a:t>ResNet50 ,</a:t>
            </a:r>
            <a:r>
              <a:rPr lang="zh-CN" altLang="en-US">
                <a:latin typeface="+mn-ea"/>
                <a:cs typeface="+mn-ea"/>
              </a:rPr>
              <a:t>在</a:t>
            </a:r>
            <a:r>
              <a:rPr lang="zh-CN" altLang="en-US">
                <a:latin typeface="+mn-ea"/>
                <a:cs typeface="+mn-ea"/>
                <a:sym typeface="+mn-ea"/>
              </a:rPr>
              <a:t>测试集</a:t>
            </a:r>
            <a:r>
              <a:rPr lang="en-US" altLang="zh-CN">
                <a:latin typeface="+mn-ea"/>
                <a:cs typeface="+mn-ea"/>
                <a:sym typeface="+mn-ea"/>
              </a:rPr>
              <a:t>CIFAR10</a:t>
            </a:r>
            <a:r>
              <a:rPr lang="zh-CN" altLang="en-US">
                <a:latin typeface="+mn-ea"/>
                <a:cs typeface="+mn-ea"/>
                <a:sym typeface="+mn-ea"/>
              </a:rPr>
              <a:t>和</a:t>
            </a:r>
            <a:r>
              <a:rPr lang="en-US" altLang="zh-CN">
                <a:latin typeface="+mn-ea"/>
                <a:cs typeface="+mn-ea"/>
                <a:sym typeface="+mn-ea"/>
              </a:rPr>
              <a:t>OOD</a:t>
            </a:r>
            <a:r>
              <a:rPr lang="zh-CN" altLang="en-US">
                <a:latin typeface="+mn-ea"/>
                <a:cs typeface="+mn-ea"/>
                <a:sym typeface="+mn-ea"/>
              </a:rPr>
              <a:t>数据集</a:t>
            </a:r>
            <a:r>
              <a:rPr lang="en-US" altLang="zh-CN">
                <a:latin typeface="+mn-ea"/>
                <a:cs typeface="+mn-ea"/>
                <a:sym typeface="+mn-ea"/>
              </a:rPr>
              <a:t>SVHN</a:t>
            </a:r>
            <a:r>
              <a:rPr lang="zh-CN" altLang="en-US">
                <a:latin typeface="+mn-ea"/>
                <a:cs typeface="+mn-ea"/>
              </a:rPr>
              <a:t>计算梯度响应</a:t>
            </a:r>
            <a:endParaRPr lang="en-US">
              <a:latin typeface="+mn-ea"/>
              <a:cs typeface="+mn-ea"/>
            </a:endParaRPr>
          </a:p>
        </p:txBody>
      </p:sp>
      <p:grpSp>
        <p:nvGrpSpPr>
          <p:cNvPr id="4" name="组合 3"/>
          <p:cNvGrpSpPr/>
          <p:nvPr/>
        </p:nvGrpSpPr>
        <p:grpSpPr>
          <a:xfrm>
            <a:off x="796290" y="2079625"/>
            <a:ext cx="5609921" cy="3811799"/>
            <a:chOff x="2595" y="3143"/>
            <a:chExt cx="8835" cy="6003"/>
          </a:xfrm>
        </p:grpSpPr>
        <p:pic>
          <p:nvPicPr>
            <p:cNvPr id="7" name="图片 6"/>
            <p:cNvPicPr>
              <a:picLocks noChangeAspect="1"/>
            </p:cNvPicPr>
            <p:nvPr/>
          </p:nvPicPr>
          <p:blipFill>
            <a:blip r:embed="rId1"/>
            <a:stretch>
              <a:fillRect/>
            </a:stretch>
          </p:blipFill>
          <p:spPr>
            <a:xfrm>
              <a:off x="2595" y="3143"/>
              <a:ext cx="3969" cy="6003"/>
            </a:xfrm>
            <a:prstGeom prst="rect">
              <a:avLst/>
            </a:prstGeom>
          </p:spPr>
        </p:pic>
        <p:pic>
          <p:nvPicPr>
            <p:cNvPr id="9" name="图片 8"/>
            <p:cNvPicPr>
              <a:picLocks noChangeAspect="1"/>
            </p:cNvPicPr>
            <p:nvPr/>
          </p:nvPicPr>
          <p:blipFill>
            <a:blip r:embed="rId2"/>
            <a:stretch>
              <a:fillRect/>
            </a:stretch>
          </p:blipFill>
          <p:spPr>
            <a:xfrm>
              <a:off x="7461" y="3143"/>
              <a:ext cx="3969" cy="6003"/>
            </a:xfrm>
            <a:prstGeom prst="rect">
              <a:avLst/>
            </a:prstGeom>
          </p:spPr>
        </p:pic>
      </p:grpSp>
      <p:sp>
        <p:nvSpPr>
          <p:cNvPr id="12" name="文本框 11"/>
          <p:cNvSpPr txBox="1"/>
          <p:nvPr/>
        </p:nvSpPr>
        <p:spPr>
          <a:xfrm>
            <a:off x="6741160" y="2811145"/>
            <a:ext cx="5178425" cy="922020"/>
          </a:xfrm>
          <a:prstGeom prst="rect">
            <a:avLst/>
          </a:prstGeom>
          <a:noFill/>
        </p:spPr>
        <p:txBody>
          <a:bodyPr wrap="square" rtlCol="0">
            <a:spAutoFit/>
          </a:bodyPr>
          <a:p>
            <a:r>
              <a:rPr lang="zh-CN" altLang="en-US">
                <a:solidFill>
                  <a:schemeClr val="accent1">
                    <a:lumMod val="60000"/>
                    <a:lumOff val="40000"/>
                  </a:schemeClr>
                </a:solidFill>
              </a:rPr>
              <a:t>结论：从梯度响应图中，可以观察到对于分布外的样本梯度响应明显大于分布内的样本，所以梯度空间上具有表征模型不确定性的信息</a:t>
            </a:r>
            <a:endParaRPr lang="zh-CN" altLang="en-US">
              <a:solidFill>
                <a:schemeClr val="accent1">
                  <a:lumMod val="60000"/>
                  <a:lumOff val="4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zh-CN" altLang="en-US"/>
          </a:p>
        </p:txBody>
      </p:sp>
      <p:sp>
        <p:nvSpPr>
          <p:cNvPr id="5" name="文本框 4"/>
          <p:cNvSpPr txBox="1"/>
          <p:nvPr/>
        </p:nvSpPr>
        <p:spPr>
          <a:xfrm>
            <a:off x="453390" y="1122680"/>
            <a:ext cx="10592435" cy="645160"/>
          </a:xfrm>
          <a:prstGeom prst="rect">
            <a:avLst/>
          </a:prstGeom>
          <a:noFill/>
        </p:spPr>
        <p:txBody>
          <a:bodyPr wrap="square" rtlCol="0">
            <a:spAutoFit/>
          </a:bodyPr>
          <a:p>
            <a:pPr marL="285750" indent="-285750">
              <a:buFont typeface="Wingdings" panose="05000000000000000000" charset="0"/>
              <a:buChar char=""/>
            </a:pPr>
            <a:r>
              <a:rPr lang="zh-CN">
                <a:latin typeface="+mn-ea"/>
                <a:cs typeface="+mn-ea"/>
              </a:rPr>
              <a:t>实验</a:t>
            </a:r>
            <a:r>
              <a:rPr lang="en-US" altLang="zh-CN">
                <a:latin typeface="+mn-ea"/>
                <a:cs typeface="+mn-ea"/>
              </a:rPr>
              <a:t>: </a:t>
            </a:r>
            <a:r>
              <a:rPr lang="zh-CN" altLang="en-US">
                <a:latin typeface="+mn-ea"/>
                <a:cs typeface="+mn-ea"/>
              </a:rPr>
              <a:t>统计</a:t>
            </a:r>
            <a:r>
              <a:rPr lang="zh-CN" altLang="en-US">
                <a:highlight>
                  <a:srgbClr val="FFFF00"/>
                </a:highlight>
                <a:latin typeface="+mn-ea"/>
                <a:cs typeface="+mn-ea"/>
              </a:rPr>
              <a:t>交叉熵损失</a:t>
            </a:r>
            <a:r>
              <a:rPr lang="zh-CN" altLang="en-US">
                <a:latin typeface="+mn-ea"/>
                <a:cs typeface="+mn-ea"/>
              </a:rPr>
              <a:t>关于输入的梯度响应图</a:t>
            </a:r>
            <a:endParaRPr lang="zh-CN" altLang="en-US">
              <a:latin typeface="+mn-ea"/>
              <a:cs typeface="+mn-ea"/>
            </a:endParaRPr>
          </a:p>
          <a:p>
            <a:pPr marL="285750" indent="-285750">
              <a:buFont typeface="Wingdings" panose="05000000000000000000" charset="0"/>
              <a:buChar char=""/>
            </a:pPr>
            <a:r>
              <a:rPr lang="zh-CN">
                <a:latin typeface="+mn-ea"/>
                <a:cs typeface="+mn-ea"/>
              </a:rPr>
              <a:t>实验设置：</a:t>
            </a:r>
            <a:r>
              <a:rPr lang="zh-CN">
                <a:latin typeface="+mn-ea"/>
                <a:cs typeface="+mn-ea"/>
                <a:sym typeface="+mn-ea"/>
              </a:rPr>
              <a:t>在</a:t>
            </a:r>
            <a:r>
              <a:rPr lang="en-US" altLang="zh-CN">
                <a:latin typeface="+mn-ea"/>
                <a:cs typeface="+mn-ea"/>
                <a:sym typeface="+mn-ea"/>
              </a:rPr>
              <a:t>CIFAR10</a:t>
            </a:r>
            <a:r>
              <a:rPr lang="zh-CN" altLang="en-US">
                <a:latin typeface="+mn-ea"/>
                <a:cs typeface="+mn-ea"/>
                <a:sym typeface="+mn-ea"/>
              </a:rPr>
              <a:t>上训练</a:t>
            </a:r>
            <a:r>
              <a:rPr lang="en-US" altLang="zh-CN">
                <a:latin typeface="+mn-ea"/>
                <a:cs typeface="+mn-ea"/>
                <a:sym typeface="+mn-ea"/>
              </a:rPr>
              <a:t>ResNet50 ,</a:t>
            </a:r>
            <a:r>
              <a:rPr lang="zh-CN" altLang="en-US">
                <a:latin typeface="+mn-ea"/>
                <a:cs typeface="+mn-ea"/>
                <a:sym typeface="+mn-ea"/>
              </a:rPr>
              <a:t>在</a:t>
            </a:r>
            <a:r>
              <a:rPr lang="zh-CN" altLang="en-US">
                <a:latin typeface="+mn-ea"/>
                <a:cs typeface="+mn-ea"/>
                <a:sym typeface="+mn-ea"/>
              </a:rPr>
              <a:t>测试集</a:t>
            </a:r>
            <a:r>
              <a:rPr lang="en-US" altLang="zh-CN">
                <a:latin typeface="+mn-ea"/>
                <a:cs typeface="+mn-ea"/>
                <a:sym typeface="+mn-ea"/>
              </a:rPr>
              <a:t>CIFAR10</a:t>
            </a:r>
            <a:r>
              <a:rPr lang="zh-CN" altLang="en-US">
                <a:latin typeface="+mn-ea"/>
                <a:cs typeface="+mn-ea"/>
                <a:sym typeface="+mn-ea"/>
              </a:rPr>
              <a:t>和</a:t>
            </a:r>
            <a:r>
              <a:rPr lang="en-US" altLang="zh-CN">
                <a:latin typeface="+mn-ea"/>
                <a:cs typeface="+mn-ea"/>
                <a:sym typeface="+mn-ea"/>
              </a:rPr>
              <a:t>OOD</a:t>
            </a:r>
            <a:r>
              <a:rPr lang="zh-CN" altLang="en-US">
                <a:latin typeface="+mn-ea"/>
                <a:cs typeface="+mn-ea"/>
                <a:sym typeface="+mn-ea"/>
              </a:rPr>
              <a:t>数据集</a:t>
            </a:r>
            <a:r>
              <a:rPr lang="en-US" altLang="zh-CN">
                <a:latin typeface="+mn-ea"/>
                <a:cs typeface="+mn-ea"/>
                <a:sym typeface="+mn-ea"/>
              </a:rPr>
              <a:t>SVHN</a:t>
            </a:r>
            <a:r>
              <a:rPr lang="zh-CN" altLang="en-US">
                <a:latin typeface="+mn-ea"/>
                <a:cs typeface="+mn-ea"/>
                <a:sym typeface="+mn-ea"/>
              </a:rPr>
              <a:t>计算梯度响应</a:t>
            </a:r>
            <a:endParaRPr lang="en-US">
              <a:latin typeface="+mn-ea"/>
              <a:cs typeface="+mn-ea"/>
            </a:endParaRPr>
          </a:p>
        </p:txBody>
      </p:sp>
      <p:sp>
        <p:nvSpPr>
          <p:cNvPr id="13" name="文本框 12"/>
          <p:cNvSpPr txBox="1"/>
          <p:nvPr/>
        </p:nvSpPr>
        <p:spPr>
          <a:xfrm>
            <a:off x="6509385" y="2895600"/>
            <a:ext cx="5466715" cy="1198880"/>
          </a:xfrm>
          <a:prstGeom prst="rect">
            <a:avLst/>
          </a:prstGeom>
          <a:noFill/>
        </p:spPr>
        <p:txBody>
          <a:bodyPr wrap="square" rtlCol="0">
            <a:spAutoFit/>
          </a:bodyPr>
          <a:p>
            <a:r>
              <a:rPr lang="zh-CN" altLang="en-US">
                <a:solidFill>
                  <a:schemeClr val="accent1">
                    <a:lumMod val="60000"/>
                    <a:lumOff val="40000"/>
                  </a:schemeClr>
                </a:solidFill>
              </a:rPr>
              <a:t>结论：对比上一组使用对数概率密度求输入的梯度，使用交叉熵损失求对输入的梯度结果相对较小，所以在表征不确定性上，使用交叉熵损失计算出的梯度信息不如对数概率密度计算出来的表现好</a:t>
            </a:r>
            <a:endParaRPr lang="zh-CN" altLang="en-US">
              <a:solidFill>
                <a:schemeClr val="accent1">
                  <a:lumMod val="60000"/>
                  <a:lumOff val="40000"/>
                </a:schemeClr>
              </a:solidFill>
            </a:endParaRPr>
          </a:p>
        </p:txBody>
      </p:sp>
      <p:grpSp>
        <p:nvGrpSpPr>
          <p:cNvPr id="7" name="组合 6"/>
          <p:cNvGrpSpPr/>
          <p:nvPr/>
        </p:nvGrpSpPr>
        <p:grpSpPr>
          <a:xfrm>
            <a:off x="970915" y="2068830"/>
            <a:ext cx="5384800" cy="3608705"/>
            <a:chOff x="1529" y="3258"/>
            <a:chExt cx="8480" cy="5683"/>
          </a:xfrm>
        </p:grpSpPr>
        <p:pic>
          <p:nvPicPr>
            <p:cNvPr id="3" name="图片 2"/>
            <p:cNvPicPr>
              <a:picLocks noChangeAspect="1"/>
            </p:cNvPicPr>
            <p:nvPr/>
          </p:nvPicPr>
          <p:blipFill>
            <a:blip r:embed="rId1"/>
            <a:stretch>
              <a:fillRect/>
            </a:stretch>
          </p:blipFill>
          <p:spPr>
            <a:xfrm>
              <a:off x="1529" y="3258"/>
              <a:ext cx="3969" cy="5666"/>
            </a:xfrm>
            <a:prstGeom prst="rect">
              <a:avLst/>
            </a:prstGeom>
          </p:spPr>
        </p:pic>
        <p:pic>
          <p:nvPicPr>
            <p:cNvPr id="4" name="图片 3"/>
            <p:cNvPicPr>
              <a:picLocks noChangeAspect="1"/>
            </p:cNvPicPr>
            <p:nvPr/>
          </p:nvPicPr>
          <p:blipFill>
            <a:blip r:embed="rId2"/>
            <a:stretch>
              <a:fillRect/>
            </a:stretch>
          </p:blipFill>
          <p:spPr>
            <a:xfrm>
              <a:off x="6040" y="3275"/>
              <a:ext cx="3969" cy="5666"/>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zh-CN" altLang="en-US"/>
          </a:p>
        </p:txBody>
      </p:sp>
      <p:sp>
        <p:nvSpPr>
          <p:cNvPr id="5" name="文本框 4"/>
          <p:cNvSpPr txBox="1"/>
          <p:nvPr/>
        </p:nvSpPr>
        <p:spPr>
          <a:xfrm>
            <a:off x="403225" y="1173480"/>
            <a:ext cx="10592435" cy="1753235"/>
          </a:xfrm>
          <a:prstGeom prst="rect">
            <a:avLst/>
          </a:prstGeom>
          <a:noFill/>
        </p:spPr>
        <p:txBody>
          <a:bodyPr wrap="square" rtlCol="0">
            <a:spAutoFit/>
          </a:bodyPr>
          <a:p>
            <a:pPr marL="285750" indent="-285750">
              <a:buFont typeface="Wingdings" panose="05000000000000000000" charset="0"/>
              <a:buChar char=""/>
            </a:pPr>
            <a:r>
              <a:rPr lang="zh-CN">
                <a:latin typeface="+mn-ea"/>
                <a:cs typeface="+mn-ea"/>
              </a:rPr>
              <a:t>实验</a:t>
            </a:r>
            <a:r>
              <a:rPr lang="en-US" altLang="zh-CN">
                <a:latin typeface="+mn-ea"/>
                <a:cs typeface="+mn-ea"/>
              </a:rPr>
              <a:t>: </a:t>
            </a:r>
            <a:r>
              <a:rPr lang="zh-CN" altLang="en-US">
                <a:latin typeface="+mn-ea"/>
                <a:cs typeface="+mn-ea"/>
              </a:rPr>
              <a:t>统计关于输入的梯度范数，定量的分析梯度信息对不确定</a:t>
            </a:r>
            <a:endParaRPr lang="zh-CN" altLang="en-US">
              <a:latin typeface="+mn-ea"/>
              <a:cs typeface="+mn-ea"/>
            </a:endParaRPr>
          </a:p>
          <a:p>
            <a:pPr marL="0" indent="0">
              <a:buFont typeface="Wingdings" panose="05000000000000000000" charset="0"/>
              <a:buNone/>
            </a:pPr>
            <a:r>
              <a:rPr lang="en-US" altLang="zh-CN">
                <a:latin typeface="+mn-ea"/>
                <a:cs typeface="+mn-ea"/>
              </a:rPr>
              <a:t>	</a:t>
            </a:r>
            <a:r>
              <a:rPr lang="zh-CN" altLang="en-US">
                <a:latin typeface="+mn-ea"/>
                <a:cs typeface="+mn-ea"/>
              </a:rPr>
              <a:t>性的建模效果</a:t>
            </a:r>
            <a:endParaRPr lang="zh-CN" altLang="en-US">
              <a:latin typeface="+mn-ea"/>
              <a:cs typeface="+mn-ea"/>
            </a:endParaRPr>
          </a:p>
          <a:p>
            <a:pPr marL="742950" lvl="1" indent="-285750">
              <a:buFont typeface="Wingdings" panose="05000000000000000000" charset="0"/>
              <a:buChar char=""/>
            </a:pPr>
            <a:r>
              <a:rPr lang="zh-CN" altLang="en-US">
                <a:latin typeface="+mn-ea"/>
                <a:cs typeface="+mn-ea"/>
              </a:rPr>
              <a:t>gradient_norms = torch.norm(gradient, p=norm)</a:t>
            </a:r>
            <a:endParaRPr lang="zh-CN" altLang="en-US">
              <a:latin typeface="+mn-ea"/>
              <a:cs typeface="+mn-ea"/>
            </a:endParaRPr>
          </a:p>
          <a:p>
            <a:pPr marL="742950" lvl="1" indent="-285750">
              <a:buFont typeface="Wingdings" panose="05000000000000000000" charset="0"/>
              <a:buChar char=""/>
            </a:pPr>
            <a:r>
              <a:rPr lang="zh-CN" altLang="en-US">
                <a:latin typeface="+mn-ea"/>
                <a:cs typeface="+mn-ea"/>
              </a:rPr>
              <a:t>直接使用梯度范数作为模型不确定性的度量</a:t>
            </a:r>
            <a:endParaRPr lang="zh-CN" altLang="en-US">
              <a:latin typeface="+mn-ea"/>
              <a:cs typeface="+mn-ea"/>
            </a:endParaRPr>
          </a:p>
          <a:p>
            <a:pPr marL="285750" indent="-285750">
              <a:buFont typeface="Wingdings" panose="05000000000000000000" charset="0"/>
              <a:buChar char=""/>
            </a:pPr>
            <a:r>
              <a:rPr lang="zh-CN">
                <a:latin typeface="+mn-ea"/>
                <a:cs typeface="+mn-ea"/>
              </a:rPr>
              <a:t>实验设置：</a:t>
            </a:r>
            <a:r>
              <a:rPr lang="zh-CN">
                <a:latin typeface="+mn-ea"/>
                <a:cs typeface="+mn-ea"/>
                <a:sym typeface="+mn-ea"/>
              </a:rPr>
              <a:t>在</a:t>
            </a:r>
            <a:r>
              <a:rPr lang="en-US" altLang="zh-CN">
                <a:latin typeface="+mn-ea"/>
                <a:cs typeface="+mn-ea"/>
                <a:sym typeface="+mn-ea"/>
              </a:rPr>
              <a:t>CIFAR10</a:t>
            </a:r>
            <a:r>
              <a:rPr lang="zh-CN" altLang="en-US">
                <a:latin typeface="+mn-ea"/>
                <a:cs typeface="+mn-ea"/>
                <a:sym typeface="+mn-ea"/>
              </a:rPr>
              <a:t>上训练</a:t>
            </a:r>
            <a:r>
              <a:rPr lang="en-US" altLang="zh-CN">
                <a:latin typeface="+mn-ea"/>
                <a:cs typeface="+mn-ea"/>
                <a:sym typeface="+mn-ea"/>
              </a:rPr>
              <a:t>ResNet50 ,</a:t>
            </a:r>
            <a:r>
              <a:rPr lang="zh-CN" altLang="en-US">
                <a:latin typeface="+mn-ea"/>
                <a:cs typeface="+mn-ea"/>
                <a:sym typeface="+mn-ea"/>
              </a:rPr>
              <a:t>在</a:t>
            </a:r>
            <a:r>
              <a:rPr lang="zh-CN" altLang="en-US">
                <a:latin typeface="+mn-ea"/>
                <a:cs typeface="+mn-ea"/>
                <a:sym typeface="+mn-ea"/>
              </a:rPr>
              <a:t>测试集</a:t>
            </a:r>
            <a:r>
              <a:rPr lang="en-US" altLang="zh-CN">
                <a:latin typeface="+mn-ea"/>
                <a:cs typeface="+mn-ea"/>
                <a:sym typeface="+mn-ea"/>
              </a:rPr>
              <a:t>CIFAR10</a:t>
            </a:r>
            <a:r>
              <a:rPr lang="zh-CN" altLang="en-US">
                <a:latin typeface="+mn-ea"/>
                <a:cs typeface="+mn-ea"/>
                <a:sym typeface="+mn-ea"/>
              </a:rPr>
              <a:t>和</a:t>
            </a:r>
            <a:r>
              <a:rPr lang="en-US" altLang="zh-CN">
                <a:latin typeface="+mn-ea"/>
                <a:cs typeface="+mn-ea"/>
                <a:sym typeface="+mn-ea"/>
              </a:rPr>
              <a:t>		</a:t>
            </a:r>
            <a:endParaRPr lang="zh-CN" altLang="en-US">
              <a:latin typeface="+mn-ea"/>
              <a:cs typeface="+mn-ea"/>
              <a:sym typeface="+mn-ea"/>
            </a:endParaRPr>
          </a:p>
          <a:p>
            <a:pPr marL="0" indent="0">
              <a:buFont typeface="Wingdings" panose="05000000000000000000" charset="0"/>
              <a:buNone/>
            </a:pPr>
            <a:r>
              <a:rPr lang="en-US" altLang="zh-CN">
                <a:latin typeface="+mn-ea"/>
                <a:cs typeface="+mn-ea"/>
                <a:sym typeface="+mn-ea"/>
              </a:rPr>
              <a:t>	OOD</a:t>
            </a:r>
            <a:r>
              <a:rPr lang="zh-CN" altLang="en-US">
                <a:latin typeface="+mn-ea"/>
                <a:cs typeface="+mn-ea"/>
                <a:sym typeface="+mn-ea"/>
              </a:rPr>
              <a:t>数据集</a:t>
            </a:r>
            <a:r>
              <a:rPr lang="en-US" altLang="zh-CN">
                <a:latin typeface="+mn-ea"/>
                <a:cs typeface="+mn-ea"/>
                <a:sym typeface="+mn-ea"/>
              </a:rPr>
              <a:t>SVHN</a:t>
            </a:r>
            <a:r>
              <a:rPr lang="zh-CN" altLang="en-US">
                <a:latin typeface="+mn-ea"/>
                <a:cs typeface="+mn-ea"/>
                <a:sym typeface="+mn-ea"/>
              </a:rPr>
              <a:t>计算梯度响应</a:t>
            </a:r>
            <a:endParaRPr lang="en-US">
              <a:latin typeface="+mn-ea"/>
              <a:cs typeface="+mn-ea"/>
            </a:endParaRPr>
          </a:p>
        </p:txBody>
      </p:sp>
      <p:sp>
        <p:nvSpPr>
          <p:cNvPr id="3" name="文本框 2"/>
          <p:cNvSpPr txBox="1"/>
          <p:nvPr/>
        </p:nvSpPr>
        <p:spPr>
          <a:xfrm>
            <a:off x="381000" y="3048000"/>
            <a:ext cx="6746875" cy="1076325"/>
          </a:xfrm>
          <a:prstGeom prst="rect">
            <a:avLst/>
          </a:prstGeom>
          <a:noFill/>
        </p:spPr>
        <p:txBody>
          <a:bodyPr wrap="square" rtlCol="0">
            <a:spAutoFit/>
          </a:bodyPr>
          <a:p>
            <a:r>
              <a:rPr lang="zh-CN" altLang="en-US" sz="1600">
                <a:solidFill>
                  <a:schemeClr val="accent1">
                    <a:lumMod val="60000"/>
                    <a:lumOff val="40000"/>
                  </a:schemeClr>
                </a:solidFill>
              </a:rPr>
              <a:t>结论：</a:t>
            </a:r>
            <a:endParaRPr lang="zh-CN" altLang="en-US" sz="1600">
              <a:solidFill>
                <a:schemeClr val="accent1">
                  <a:lumMod val="60000"/>
                  <a:lumOff val="40000"/>
                </a:schemeClr>
              </a:solidFill>
            </a:endParaRPr>
          </a:p>
          <a:p>
            <a:r>
              <a:rPr lang="en-US" altLang="zh-CN" sz="1600">
                <a:solidFill>
                  <a:schemeClr val="accent1">
                    <a:lumMod val="60000"/>
                    <a:lumOff val="40000"/>
                  </a:schemeClr>
                </a:solidFill>
              </a:rPr>
              <a:t>1.</a:t>
            </a:r>
            <a:r>
              <a:rPr lang="zh-CN" altLang="en-US" sz="1600">
                <a:solidFill>
                  <a:schemeClr val="accent1">
                    <a:lumMod val="60000"/>
                    <a:lumOff val="40000"/>
                  </a:schemeClr>
                </a:solidFill>
              </a:rPr>
              <a:t>浅层相比深层，域内样本和域外样本在梯度空间上的分布差异更显著</a:t>
            </a:r>
            <a:endParaRPr lang="zh-CN" altLang="en-US" sz="1600">
              <a:solidFill>
                <a:schemeClr val="accent1">
                  <a:lumMod val="60000"/>
                  <a:lumOff val="40000"/>
                </a:schemeClr>
              </a:solidFill>
            </a:endParaRPr>
          </a:p>
          <a:p>
            <a:r>
              <a:rPr lang="en-US" altLang="zh-CN" sz="1600">
                <a:solidFill>
                  <a:schemeClr val="accent1">
                    <a:lumMod val="60000"/>
                    <a:lumOff val="40000"/>
                  </a:schemeClr>
                </a:solidFill>
              </a:rPr>
              <a:t>2.GradNorm</a:t>
            </a:r>
            <a:r>
              <a:rPr lang="zh-CN" altLang="en-US" sz="1600">
                <a:solidFill>
                  <a:schemeClr val="accent1">
                    <a:lumMod val="60000"/>
                    <a:lumOff val="40000"/>
                  </a:schemeClr>
                </a:solidFill>
              </a:rPr>
              <a:t>可以作为模型不确定性的度量并在</a:t>
            </a:r>
            <a:r>
              <a:rPr lang="en-US" altLang="zh-CN" sz="1600">
                <a:solidFill>
                  <a:schemeClr val="accent1">
                    <a:lumMod val="60000"/>
                    <a:lumOff val="40000"/>
                  </a:schemeClr>
                </a:solidFill>
              </a:rPr>
              <a:t>OOD</a:t>
            </a:r>
            <a:r>
              <a:rPr lang="zh-CN" altLang="en-US" sz="1600">
                <a:solidFill>
                  <a:schemeClr val="accent1">
                    <a:lumMod val="60000"/>
                    <a:lumOff val="40000"/>
                  </a:schemeClr>
                </a:solidFill>
              </a:rPr>
              <a:t>检测任务上取的一定效果，但是相对</a:t>
            </a:r>
            <a:r>
              <a:rPr lang="en-US" altLang="zh-CN" sz="1600">
                <a:solidFill>
                  <a:schemeClr val="accent1">
                    <a:lumMod val="60000"/>
                    <a:lumOff val="40000"/>
                  </a:schemeClr>
                </a:solidFill>
              </a:rPr>
              <a:t>DDU</a:t>
            </a:r>
            <a:r>
              <a:rPr lang="zh-CN" altLang="en-US" sz="1600">
                <a:solidFill>
                  <a:schemeClr val="accent1">
                    <a:lumMod val="60000"/>
                    <a:lumOff val="40000"/>
                  </a:schemeClr>
                </a:solidFill>
              </a:rPr>
              <a:t>算法还有一定差距</a:t>
            </a:r>
            <a:endParaRPr lang="zh-CN" altLang="en-US" sz="1600">
              <a:solidFill>
                <a:schemeClr val="accent1">
                  <a:lumMod val="60000"/>
                  <a:lumOff val="40000"/>
                </a:schemeClr>
              </a:solidFill>
            </a:endParaRPr>
          </a:p>
        </p:txBody>
      </p:sp>
      <p:pic>
        <p:nvPicPr>
          <p:cNvPr id="8" name="图片 7"/>
          <p:cNvPicPr>
            <a:picLocks noChangeAspect="1"/>
          </p:cNvPicPr>
          <p:nvPr/>
        </p:nvPicPr>
        <p:blipFill>
          <a:blip r:embed="rId1"/>
          <a:stretch>
            <a:fillRect/>
          </a:stretch>
        </p:blipFill>
        <p:spPr>
          <a:xfrm>
            <a:off x="7391400" y="1143000"/>
            <a:ext cx="4505325" cy="2920365"/>
          </a:xfrm>
          <a:prstGeom prst="rect">
            <a:avLst/>
          </a:prstGeom>
        </p:spPr>
      </p:pic>
      <p:grpSp>
        <p:nvGrpSpPr>
          <p:cNvPr id="9" name="组合 8"/>
          <p:cNvGrpSpPr/>
          <p:nvPr/>
        </p:nvGrpSpPr>
        <p:grpSpPr>
          <a:xfrm>
            <a:off x="838200" y="4191000"/>
            <a:ext cx="10819130" cy="2321560"/>
            <a:chOff x="1094" y="0"/>
            <a:chExt cx="17038" cy="3656"/>
          </a:xfrm>
        </p:grpSpPr>
        <p:pic>
          <p:nvPicPr>
            <p:cNvPr id="10" name="图片 9" descr="image_grad_wrt_input_dist"/>
            <p:cNvPicPr>
              <a:picLocks noChangeAspect="1"/>
            </p:cNvPicPr>
            <p:nvPr/>
          </p:nvPicPr>
          <p:blipFill>
            <a:blip r:embed="rId2"/>
            <a:stretch>
              <a:fillRect/>
            </a:stretch>
          </p:blipFill>
          <p:spPr>
            <a:xfrm>
              <a:off x="1094" y="0"/>
              <a:ext cx="5102" cy="3656"/>
            </a:xfrm>
            <a:prstGeom prst="rect">
              <a:avLst/>
            </a:prstGeom>
          </p:spPr>
        </p:pic>
        <p:pic>
          <p:nvPicPr>
            <p:cNvPr id="11" name="图片 10" descr="layer2_grad_wrt_input_dist"/>
            <p:cNvPicPr>
              <a:picLocks noChangeAspect="1"/>
            </p:cNvPicPr>
            <p:nvPr/>
          </p:nvPicPr>
          <p:blipFill>
            <a:blip r:embed="rId3"/>
            <a:stretch>
              <a:fillRect/>
            </a:stretch>
          </p:blipFill>
          <p:spPr>
            <a:xfrm>
              <a:off x="7164" y="0"/>
              <a:ext cx="5102" cy="3449"/>
            </a:xfrm>
            <a:prstGeom prst="rect">
              <a:avLst/>
            </a:prstGeom>
          </p:spPr>
        </p:pic>
        <p:pic>
          <p:nvPicPr>
            <p:cNvPr id="12" name="图片 11" descr="layer3_grad_wrt_input_dist"/>
            <p:cNvPicPr>
              <a:picLocks noChangeAspect="1"/>
            </p:cNvPicPr>
            <p:nvPr/>
          </p:nvPicPr>
          <p:blipFill>
            <a:blip r:embed="rId4"/>
            <a:stretch>
              <a:fillRect/>
            </a:stretch>
          </p:blipFill>
          <p:spPr>
            <a:xfrm>
              <a:off x="13304" y="0"/>
              <a:ext cx="4828" cy="3402"/>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zh-CN" altLang="en-US"/>
          </a:p>
        </p:txBody>
      </p:sp>
      <p:sp>
        <p:nvSpPr>
          <p:cNvPr id="5" name="文本框 4"/>
          <p:cNvSpPr txBox="1"/>
          <p:nvPr/>
        </p:nvSpPr>
        <p:spPr>
          <a:xfrm>
            <a:off x="534035" y="1123315"/>
            <a:ext cx="10592435" cy="1198880"/>
          </a:xfrm>
          <a:prstGeom prst="rect">
            <a:avLst/>
          </a:prstGeom>
          <a:noFill/>
        </p:spPr>
        <p:txBody>
          <a:bodyPr wrap="square" rtlCol="0">
            <a:spAutoFit/>
          </a:bodyPr>
          <a:p>
            <a:pPr marL="285750" indent="-285750">
              <a:buFont typeface="Wingdings" panose="05000000000000000000" charset="0"/>
              <a:buChar char=""/>
            </a:pPr>
            <a:r>
              <a:rPr lang="zh-CN" altLang="en-US" dirty="0">
                <a:latin typeface="+mn-ea"/>
                <a:cs typeface="+mn-ea"/>
                <a:sym typeface="+mn-ea"/>
              </a:rPr>
              <a:t>通过以上在梯度空间的可视化分析，观察到域内样本和</a:t>
            </a:r>
            <a:r>
              <a:rPr lang="en-US" altLang="zh-CN" dirty="0">
                <a:latin typeface="+mn-ea"/>
                <a:cs typeface="+mn-ea"/>
                <a:sym typeface="+mn-ea"/>
              </a:rPr>
              <a:t>OOD</a:t>
            </a:r>
            <a:r>
              <a:rPr lang="zh-CN" altLang="en-US" dirty="0">
                <a:latin typeface="+mn-ea"/>
                <a:cs typeface="+mn-ea"/>
                <a:sym typeface="+mn-ea"/>
              </a:rPr>
              <a:t>样本在梯度空间上分布的显著差异</a:t>
            </a:r>
            <a:endParaRPr lang="zh-CN" altLang="en-US" dirty="0">
              <a:latin typeface="+mn-ea"/>
              <a:cs typeface="+mn-ea"/>
              <a:sym typeface="+mn-ea"/>
            </a:endParaRPr>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b="1" dirty="0"/>
              <a:t>进而提出以下改进算法</a:t>
            </a:r>
            <a:r>
              <a:rPr lang="zh-CN" altLang="en-US" dirty="0"/>
              <a:t>：通过</a:t>
            </a:r>
            <a:r>
              <a:rPr lang="zh-CN" altLang="en-US" dirty="0">
                <a:highlight>
                  <a:srgbClr val="FFFF00"/>
                </a:highlight>
              </a:rPr>
              <a:t>对输入的图片添加关于输入梯度的噪声扰动</a:t>
            </a:r>
            <a:r>
              <a:rPr lang="zh-CN" altLang="en-US" dirty="0"/>
              <a:t>，改进</a:t>
            </a:r>
            <a:r>
              <a:rPr lang="zh-CN" dirty="0">
                <a:sym typeface="+mn-ea"/>
              </a:rPr>
              <a:t>基于高维特征概率密度建模的不确定性估计</a:t>
            </a:r>
            <a:endParaRPr lang="en-US" altLang="zh-CN" dirty="0"/>
          </a:p>
        </p:txBody>
      </p:sp>
      <p:pic>
        <p:nvPicPr>
          <p:cNvPr id="6" name="图片 5"/>
          <p:cNvPicPr>
            <a:picLocks noChangeAspect="1"/>
          </p:cNvPicPr>
          <p:nvPr/>
        </p:nvPicPr>
        <p:blipFill>
          <a:blip r:embed="rId1"/>
          <a:stretch>
            <a:fillRect/>
          </a:stretch>
        </p:blipFill>
        <p:spPr>
          <a:xfrm>
            <a:off x="5943600" y="2971800"/>
            <a:ext cx="5116195" cy="2077720"/>
          </a:xfrm>
          <a:prstGeom prst="rect">
            <a:avLst/>
          </a:prstGeom>
        </p:spPr>
      </p:pic>
      <p:pic>
        <p:nvPicPr>
          <p:cNvPr id="7" name="图片 6"/>
          <p:cNvPicPr>
            <a:picLocks noChangeAspect="1"/>
          </p:cNvPicPr>
          <p:nvPr/>
        </p:nvPicPr>
        <p:blipFill>
          <a:blip r:embed="rId2"/>
          <a:stretch>
            <a:fillRect/>
          </a:stretch>
        </p:blipFill>
        <p:spPr>
          <a:xfrm>
            <a:off x="838200" y="2438400"/>
            <a:ext cx="4695825" cy="37909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zh-CN" altLang="en-US"/>
          </a:p>
        </p:txBody>
      </p:sp>
      <p:sp>
        <p:nvSpPr>
          <p:cNvPr id="5" name="文本框 4"/>
          <p:cNvSpPr txBox="1"/>
          <p:nvPr/>
        </p:nvSpPr>
        <p:spPr>
          <a:xfrm>
            <a:off x="534035" y="1123315"/>
            <a:ext cx="5951220" cy="1753235"/>
          </a:xfrm>
          <a:prstGeom prst="rect">
            <a:avLst/>
          </a:prstGeom>
          <a:noFill/>
        </p:spPr>
        <p:txBody>
          <a:bodyPr wrap="square" rtlCol="0">
            <a:spAutoFit/>
          </a:bodyPr>
          <a:p>
            <a:pPr marL="0" indent="0">
              <a:buFont typeface="Wingdings" panose="05000000000000000000" charset="0"/>
              <a:buChar char=""/>
            </a:pPr>
            <a:r>
              <a:rPr lang="en-US" altLang="zh-CN" dirty="0">
                <a:sym typeface="+mn-ea"/>
              </a:rPr>
              <a:t>  </a:t>
            </a:r>
            <a:r>
              <a:rPr lang="zh-CN" altLang="en-US" dirty="0">
                <a:sym typeface="+mn-ea"/>
              </a:rPr>
              <a:t>通过</a:t>
            </a:r>
            <a:r>
              <a:rPr lang="zh-CN" altLang="en-US" dirty="0">
                <a:highlight>
                  <a:srgbClr val="FFFF00"/>
                </a:highlight>
                <a:sym typeface="+mn-ea"/>
              </a:rPr>
              <a:t>对输入的图片添加关于输入梯度的噪声扰动</a:t>
            </a:r>
            <a:r>
              <a:rPr lang="zh-CN" altLang="en-US" dirty="0">
                <a:sym typeface="+mn-ea"/>
              </a:rPr>
              <a:t>，改进</a:t>
            </a:r>
            <a:r>
              <a:rPr lang="zh-CN" dirty="0">
                <a:sym typeface="+mn-ea"/>
              </a:rPr>
              <a:t>基于高维特征概率密度建模的不确定性估计</a:t>
            </a:r>
            <a:endParaRPr lang="zh-CN" dirty="0">
              <a:sym typeface="+mn-ea"/>
            </a:endParaRPr>
          </a:p>
          <a:p>
            <a:pPr marL="285750" indent="-285750">
              <a:buFont typeface="Wingdings" panose="05000000000000000000" charset="0"/>
              <a:buChar char=""/>
            </a:pPr>
            <a:endParaRPr lang="en-US" altLang="zh-CN" dirty="0"/>
          </a:p>
          <a:p>
            <a:pPr marL="285750" indent="-285750">
              <a:buFont typeface="Wingdings" panose="05000000000000000000" charset="0"/>
              <a:buChar char=""/>
            </a:pPr>
            <a:r>
              <a:rPr lang="zh-CN" altLang="en-US">
                <a:latin typeface="+mn-ea"/>
                <a:cs typeface="+mn-ea"/>
                <a:sym typeface="+mn-ea"/>
              </a:rPr>
              <a:t>在</a:t>
            </a:r>
            <a:r>
              <a:rPr lang="en-US" altLang="zh-CN">
                <a:latin typeface="+mn-ea"/>
                <a:cs typeface="+mn-ea"/>
                <a:sym typeface="+mn-ea"/>
              </a:rPr>
              <a:t>ResNet50</a:t>
            </a:r>
            <a:r>
              <a:rPr lang="zh-CN" altLang="en-US">
                <a:latin typeface="+mn-ea"/>
                <a:cs typeface="+mn-ea"/>
                <a:sym typeface="+mn-ea"/>
              </a:rPr>
              <a:t>训练</a:t>
            </a:r>
            <a:r>
              <a:rPr lang="en-US" altLang="zh-CN">
                <a:latin typeface="+mn-ea"/>
                <a:cs typeface="+mn-ea"/>
                <a:sym typeface="+mn-ea"/>
              </a:rPr>
              <a:t>CIFAR10 </a:t>
            </a:r>
            <a:r>
              <a:rPr lang="zh-CN" altLang="en-US">
                <a:latin typeface="+mn-ea"/>
                <a:cs typeface="+mn-ea"/>
                <a:sym typeface="+mn-ea"/>
              </a:rPr>
              <a:t>，</a:t>
            </a:r>
            <a:r>
              <a:rPr lang="en-US" altLang="zh-CN">
                <a:latin typeface="+mn-ea"/>
                <a:cs typeface="+mn-ea"/>
                <a:sym typeface="+mn-ea"/>
              </a:rPr>
              <a:t>CIFAR10</a:t>
            </a:r>
            <a:r>
              <a:rPr lang="zh-CN" altLang="en-US">
                <a:latin typeface="+mn-ea"/>
                <a:cs typeface="+mn-ea"/>
                <a:sym typeface="+mn-ea"/>
              </a:rPr>
              <a:t>测试集</a:t>
            </a:r>
            <a:r>
              <a:rPr lang="en-US" altLang="zh-CN">
                <a:latin typeface="+mn-ea"/>
                <a:cs typeface="+mn-ea"/>
                <a:sym typeface="+mn-ea"/>
              </a:rPr>
              <a:t>vs OOD</a:t>
            </a:r>
            <a:r>
              <a:rPr lang="zh-CN" altLang="en-US">
                <a:latin typeface="+mn-ea"/>
                <a:cs typeface="+mn-ea"/>
                <a:sym typeface="+mn-ea"/>
              </a:rPr>
              <a:t>数据集</a:t>
            </a:r>
            <a:r>
              <a:rPr lang="en-US" altLang="zh-CN">
                <a:latin typeface="+mn-ea"/>
                <a:cs typeface="+mn-ea"/>
                <a:sym typeface="+mn-ea"/>
              </a:rPr>
              <a:t>SVHN</a:t>
            </a:r>
            <a:r>
              <a:rPr lang="zh-CN" altLang="en-US">
                <a:latin typeface="+mn-ea"/>
                <a:cs typeface="+mn-ea"/>
                <a:sym typeface="+mn-ea"/>
              </a:rPr>
              <a:t>，</a:t>
            </a:r>
            <a:r>
              <a:rPr lang="zh-CN">
                <a:latin typeface="+mn-ea"/>
                <a:cs typeface="+mn-ea"/>
                <a:sym typeface="+mn-ea"/>
              </a:rPr>
              <a:t>加入</a:t>
            </a:r>
            <a:r>
              <a:rPr lang="zh-CN" altLang="en-US">
                <a:sym typeface="+mn-ea"/>
              </a:rPr>
              <a:t>输入扰动前后</a:t>
            </a:r>
            <a:r>
              <a:rPr lang="zh-CN" altLang="en-US">
                <a:latin typeface="+mn-ea"/>
                <a:cs typeface="+mn-ea"/>
                <a:sym typeface="+mn-ea"/>
              </a:rPr>
              <a:t>，对比</a:t>
            </a:r>
            <a:r>
              <a:rPr lang="en-US" altLang="zh-CN">
                <a:latin typeface="+mn-ea"/>
                <a:cs typeface="+mn-ea"/>
                <a:sym typeface="+mn-ea"/>
              </a:rPr>
              <a:t>Uncertainty</a:t>
            </a:r>
            <a:r>
              <a:rPr lang="zh-CN" altLang="en-US">
                <a:latin typeface="+mn-ea"/>
                <a:cs typeface="+mn-ea"/>
                <a:sym typeface="+mn-ea"/>
              </a:rPr>
              <a:t>的分布</a:t>
            </a:r>
            <a:r>
              <a:rPr lang="en-US" altLang="zh-CN">
                <a:latin typeface="+mn-ea"/>
                <a:cs typeface="+mn-ea"/>
                <a:sym typeface="+mn-ea"/>
              </a:rPr>
              <a:t> </a:t>
            </a:r>
            <a:endParaRPr lang="en-US" altLang="zh-CN" dirty="0"/>
          </a:p>
        </p:txBody>
      </p:sp>
      <p:pic>
        <p:nvPicPr>
          <p:cNvPr id="8" name="图片 7"/>
          <p:cNvPicPr>
            <a:picLocks noChangeAspect="1"/>
          </p:cNvPicPr>
          <p:nvPr/>
        </p:nvPicPr>
        <p:blipFill>
          <a:blip r:embed="rId1"/>
          <a:stretch>
            <a:fillRect/>
          </a:stretch>
        </p:blipFill>
        <p:spPr>
          <a:xfrm>
            <a:off x="6715125" y="1123315"/>
            <a:ext cx="4761230" cy="5050155"/>
          </a:xfrm>
          <a:prstGeom prst="rect">
            <a:avLst/>
          </a:prstGeom>
        </p:spPr>
      </p:pic>
      <p:grpSp>
        <p:nvGrpSpPr>
          <p:cNvPr id="12" name="组合 11"/>
          <p:cNvGrpSpPr/>
          <p:nvPr/>
        </p:nvGrpSpPr>
        <p:grpSpPr>
          <a:xfrm>
            <a:off x="685800" y="3733800"/>
            <a:ext cx="5605145" cy="1570355"/>
            <a:chOff x="1915" y="6235"/>
            <a:chExt cx="14518" cy="4565"/>
          </a:xfrm>
        </p:grpSpPr>
        <p:pic>
          <p:nvPicPr>
            <p:cNvPr id="3" name="图片 2" descr="logdensity_hist_purturbation"/>
            <p:cNvPicPr>
              <a:picLocks noChangeAspect="1"/>
            </p:cNvPicPr>
            <p:nvPr/>
          </p:nvPicPr>
          <p:blipFill>
            <a:blip r:embed="rId2"/>
            <a:stretch>
              <a:fillRect/>
            </a:stretch>
          </p:blipFill>
          <p:spPr>
            <a:xfrm>
              <a:off x="9449" y="6235"/>
              <a:ext cx="6984" cy="4565"/>
            </a:xfrm>
            <a:prstGeom prst="rect">
              <a:avLst/>
            </a:prstGeom>
          </p:spPr>
        </p:pic>
        <p:pic>
          <p:nvPicPr>
            <p:cNvPr id="7" name="图片 6" descr="logdensity_hist"/>
            <p:cNvPicPr>
              <a:picLocks noChangeAspect="1"/>
            </p:cNvPicPr>
            <p:nvPr/>
          </p:nvPicPr>
          <p:blipFill>
            <a:blip r:embed="rId3"/>
            <a:stretch>
              <a:fillRect/>
            </a:stretch>
          </p:blipFill>
          <p:spPr>
            <a:xfrm>
              <a:off x="1915" y="6235"/>
              <a:ext cx="6984" cy="4565"/>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zh-CN" altLang="en-US"/>
          </a:p>
        </p:txBody>
      </p:sp>
      <p:sp>
        <p:nvSpPr>
          <p:cNvPr id="3" name="文本框 2"/>
          <p:cNvSpPr txBox="1"/>
          <p:nvPr/>
        </p:nvSpPr>
        <p:spPr>
          <a:xfrm>
            <a:off x="453390" y="1216660"/>
            <a:ext cx="10592435" cy="1198880"/>
          </a:xfrm>
          <a:prstGeom prst="rect">
            <a:avLst/>
          </a:prstGeom>
          <a:noFill/>
        </p:spPr>
        <p:txBody>
          <a:bodyPr wrap="square" rtlCol="0">
            <a:spAutoFit/>
          </a:bodyPr>
          <a:p>
            <a:pPr marL="285750" indent="-285750">
              <a:buFont typeface="Wingdings" panose="05000000000000000000" charset="0"/>
              <a:buChar char=""/>
            </a:pPr>
            <a:r>
              <a:rPr lang="zh-CN" altLang="en-US" dirty="0">
                <a:sym typeface="+mn-ea"/>
              </a:rPr>
              <a:t>在</a:t>
            </a:r>
            <a:r>
              <a:rPr lang="en-US" altLang="zh-CN" dirty="0">
                <a:sym typeface="+mn-ea"/>
              </a:rPr>
              <a:t>OOD</a:t>
            </a:r>
            <a:r>
              <a:rPr lang="zh-CN" altLang="en-US" dirty="0">
                <a:sym typeface="+mn-ea"/>
              </a:rPr>
              <a:t>检测任务上，</a:t>
            </a:r>
            <a:r>
              <a:rPr lang="zh-CN" altLang="en-US" dirty="0">
                <a:sym typeface="+mn-ea"/>
              </a:rPr>
              <a:t>评估</a:t>
            </a:r>
            <a:r>
              <a:rPr lang="zh-CN" dirty="0">
                <a:sym typeface="+mn-ea"/>
              </a:rPr>
              <a:t>加入</a:t>
            </a:r>
            <a:r>
              <a:rPr lang="zh-CN" altLang="en-US" dirty="0">
                <a:sym typeface="+mn-ea"/>
              </a:rPr>
              <a:t>输入扰动后</a:t>
            </a:r>
            <a:r>
              <a:rPr lang="en-US" altLang="zh-CN" dirty="0">
                <a:latin typeface="+mn-ea"/>
                <a:cs typeface="+mn-ea"/>
                <a:sym typeface="+mn-ea"/>
              </a:rPr>
              <a:t>Uncertainty</a:t>
            </a:r>
            <a:r>
              <a:rPr lang="zh-CN" altLang="en-US" dirty="0">
                <a:sym typeface="+mn-ea"/>
              </a:rPr>
              <a:t>建模的效果</a:t>
            </a:r>
            <a:endParaRPr lang="zh-CN" altLang="en-US" dirty="0">
              <a:sym typeface="+mn-ea"/>
            </a:endParaRPr>
          </a:p>
          <a:p>
            <a:pPr marL="285750" indent="-285750">
              <a:buFont typeface="Wingdings" panose="05000000000000000000" charset="0"/>
              <a:buChar char=""/>
            </a:pPr>
            <a:endParaRPr lang="zh-CN" altLang="en-US" dirty="0">
              <a:sym typeface="+mn-ea"/>
            </a:endParaRPr>
          </a:p>
          <a:p>
            <a:pPr marL="285750" indent="-285750">
              <a:buFont typeface="Wingdings" panose="05000000000000000000" charset="0"/>
              <a:buChar char=""/>
            </a:pPr>
            <a:r>
              <a:rPr lang="zh-CN" altLang="en-US" dirty="0">
                <a:sym typeface="+mn-ea"/>
              </a:rPr>
              <a:t>分别在</a:t>
            </a:r>
            <a:r>
              <a:rPr lang="en-US" altLang="zh-CN" dirty="0">
                <a:sym typeface="+mn-ea"/>
              </a:rPr>
              <a:t>VGG/</a:t>
            </a:r>
            <a:r>
              <a:rPr lang="en-US" altLang="zh-CN" dirty="0" err="1">
                <a:sym typeface="+mn-ea"/>
              </a:rPr>
              <a:t>ResNet</a:t>
            </a:r>
            <a:r>
              <a:rPr lang="en-US" altLang="zh-CN" dirty="0">
                <a:sym typeface="+mn-ea"/>
              </a:rPr>
              <a:t>/</a:t>
            </a:r>
            <a:r>
              <a:rPr lang="en-US" altLang="zh-CN" dirty="0" err="1">
                <a:sym typeface="+mn-ea"/>
              </a:rPr>
              <a:t>wideResNet</a:t>
            </a:r>
            <a:r>
              <a:rPr lang="en-US" altLang="zh-CN" dirty="0">
                <a:sym typeface="+mn-ea"/>
              </a:rPr>
              <a:t>/VIT</a:t>
            </a:r>
            <a:r>
              <a:rPr lang="zh-CN" altLang="en-US" dirty="0">
                <a:sym typeface="+mn-ea"/>
              </a:rPr>
              <a:t>等模型上实验，训练集选择</a:t>
            </a:r>
            <a:r>
              <a:rPr lang="en-US" altLang="zh-CN" dirty="0">
                <a:sym typeface="+mn-ea"/>
              </a:rPr>
              <a:t>CIFAR10</a:t>
            </a:r>
            <a:r>
              <a:rPr lang="zh-CN" altLang="en-US" dirty="0">
                <a:sym typeface="+mn-ea"/>
              </a:rPr>
              <a:t>，</a:t>
            </a:r>
            <a:r>
              <a:rPr lang="en-US" altLang="zh-CN" dirty="0">
                <a:sym typeface="+mn-ea"/>
              </a:rPr>
              <a:t>OOD</a:t>
            </a:r>
            <a:r>
              <a:rPr lang="zh-CN" altLang="en-US" dirty="0">
                <a:sym typeface="+mn-ea"/>
              </a:rPr>
              <a:t>数据集选择</a:t>
            </a:r>
            <a:r>
              <a:rPr lang="en-US" altLang="zh-CN" dirty="0">
                <a:sym typeface="+mn-ea"/>
              </a:rPr>
              <a:t>SVHN/LSUN/CIFAR100/MNIST/</a:t>
            </a:r>
            <a:endParaRPr lang="zh-CN" altLang="en-US" dirty="0">
              <a:sym typeface="+mn-ea"/>
            </a:endParaRPr>
          </a:p>
        </p:txBody>
      </p:sp>
      <p:pic>
        <p:nvPicPr>
          <p:cNvPr id="4" name="图片 3"/>
          <p:cNvPicPr>
            <a:picLocks noChangeAspect="1"/>
          </p:cNvPicPr>
          <p:nvPr/>
        </p:nvPicPr>
        <p:blipFill>
          <a:blip r:embed="rId1"/>
          <a:stretch>
            <a:fillRect/>
          </a:stretch>
        </p:blipFill>
        <p:spPr>
          <a:xfrm>
            <a:off x="685800" y="2590800"/>
            <a:ext cx="6090920" cy="3429635"/>
          </a:xfrm>
          <a:prstGeom prst="rect">
            <a:avLst/>
          </a:prstGeom>
        </p:spPr>
      </p:pic>
      <p:sp>
        <p:nvSpPr>
          <p:cNvPr id="5" name="文本框 4"/>
          <p:cNvSpPr txBox="1"/>
          <p:nvPr/>
        </p:nvSpPr>
        <p:spPr>
          <a:xfrm>
            <a:off x="6588125" y="3267075"/>
            <a:ext cx="5330825" cy="829945"/>
          </a:xfrm>
          <a:prstGeom prst="rect">
            <a:avLst/>
          </a:prstGeom>
          <a:noFill/>
        </p:spPr>
        <p:txBody>
          <a:bodyPr wrap="square" rtlCol="0">
            <a:spAutoFit/>
          </a:bodyPr>
          <a:p>
            <a:r>
              <a:rPr lang="zh-CN" altLang="en-US" sz="1600">
                <a:solidFill>
                  <a:schemeClr val="accent1">
                    <a:lumMod val="60000"/>
                    <a:lumOff val="40000"/>
                  </a:schemeClr>
                </a:solidFill>
              </a:rPr>
              <a:t>结论：</a:t>
            </a:r>
            <a:r>
              <a:rPr lang="zh-CN" sz="1600">
                <a:solidFill>
                  <a:schemeClr val="accent1">
                    <a:lumMod val="60000"/>
                    <a:lumOff val="40000"/>
                  </a:schemeClr>
                </a:solidFill>
              </a:rPr>
              <a:t>在多个模型和多个数据集上的结果都显示了，加入输入扰动之后，计算的不确定性指标在</a:t>
            </a:r>
            <a:r>
              <a:rPr lang="en-US" altLang="zh-CN" sz="1600">
                <a:solidFill>
                  <a:schemeClr val="accent1">
                    <a:lumMod val="60000"/>
                    <a:lumOff val="40000"/>
                  </a:schemeClr>
                </a:solidFill>
              </a:rPr>
              <a:t>OOD</a:t>
            </a:r>
            <a:r>
              <a:rPr lang="zh-CN" altLang="en-US" sz="1600">
                <a:solidFill>
                  <a:schemeClr val="accent1">
                    <a:lumMod val="60000"/>
                    <a:lumOff val="40000"/>
                  </a:schemeClr>
                </a:solidFill>
              </a:rPr>
              <a:t>检测任务上的显著提升，验证了本方法的有效性</a:t>
            </a:r>
            <a:endParaRPr lang="zh-CN" altLang="en-US" sz="1600">
              <a:solidFill>
                <a:schemeClr val="accent1">
                  <a:lumMod val="60000"/>
                  <a:lumOff val="4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zh-CN" altLang="en-US"/>
          </a:p>
        </p:txBody>
      </p:sp>
      <p:sp>
        <p:nvSpPr>
          <p:cNvPr id="5" name="文本框 4"/>
          <p:cNvSpPr txBox="1"/>
          <p:nvPr/>
        </p:nvSpPr>
        <p:spPr>
          <a:xfrm>
            <a:off x="457200" y="1219200"/>
            <a:ext cx="10592435" cy="922020"/>
          </a:xfrm>
          <a:prstGeom prst="rect">
            <a:avLst/>
          </a:prstGeom>
          <a:noFill/>
        </p:spPr>
        <p:txBody>
          <a:bodyPr wrap="square" rtlCol="0">
            <a:spAutoFit/>
          </a:bodyPr>
          <a:p>
            <a:pPr marL="285750" indent="-285750">
              <a:buFont typeface="Wingdings" panose="05000000000000000000" charset="0"/>
              <a:buChar char=""/>
            </a:pPr>
            <a:r>
              <a:rPr lang="zh-CN" altLang="en-US" dirty="0">
                <a:sym typeface="+mn-ea"/>
              </a:rPr>
              <a:t>输入扰动的改进对比其他几种模型不确定性建模算法</a:t>
            </a:r>
            <a:r>
              <a:rPr lang="en-US" altLang="zh-CN" dirty="0">
                <a:sym typeface="+mn-ea"/>
              </a:rPr>
              <a:t>(</a:t>
            </a:r>
            <a:r>
              <a:rPr lang="en-US" altLang="zh-CN" dirty="0">
                <a:sym typeface="+mn-ea"/>
              </a:rPr>
              <a:t>MSP,Ensemble,DDU)</a:t>
            </a:r>
            <a:endParaRPr lang="en-US" altLang="zh-CN" dirty="0">
              <a:sym typeface="+mn-ea"/>
            </a:endParaRPr>
          </a:p>
          <a:p>
            <a:pPr marL="285750" indent="-285750">
              <a:buFont typeface="Wingdings" panose="05000000000000000000" charset="0"/>
              <a:buChar char=""/>
            </a:pPr>
            <a:endParaRPr lang="zh-CN" altLang="en-US" dirty="0">
              <a:sym typeface="+mn-ea"/>
            </a:endParaRPr>
          </a:p>
          <a:p>
            <a:pPr marL="285750" indent="-285750">
              <a:buFont typeface="Wingdings" panose="05000000000000000000" charset="0"/>
              <a:buChar char=""/>
            </a:pPr>
            <a:r>
              <a:rPr lang="zh-CN" altLang="en-US" dirty="0">
                <a:sym typeface="+mn-ea"/>
              </a:rPr>
              <a:t>在</a:t>
            </a:r>
            <a:r>
              <a:rPr lang="en-US" altLang="zh-CN" dirty="0">
                <a:sym typeface="+mn-ea"/>
              </a:rPr>
              <a:t>OOD</a:t>
            </a:r>
            <a:r>
              <a:rPr lang="zh-CN" altLang="en-US" dirty="0">
                <a:sym typeface="+mn-ea"/>
              </a:rPr>
              <a:t>检测任务上评估</a:t>
            </a:r>
            <a:endParaRPr lang="zh-CN" altLang="en-US" dirty="0">
              <a:sym typeface="+mn-ea"/>
            </a:endParaRPr>
          </a:p>
        </p:txBody>
      </p:sp>
      <p:grpSp>
        <p:nvGrpSpPr>
          <p:cNvPr id="3" name="组合 2"/>
          <p:cNvGrpSpPr/>
          <p:nvPr/>
        </p:nvGrpSpPr>
        <p:grpSpPr>
          <a:xfrm>
            <a:off x="8021320" y="1724025"/>
            <a:ext cx="3723640" cy="4050665"/>
            <a:chOff x="2083" y="2928"/>
            <a:chExt cx="5864" cy="6379"/>
          </a:xfrm>
        </p:grpSpPr>
        <p:pic>
          <p:nvPicPr>
            <p:cNvPr id="4" name="图片 3"/>
            <p:cNvPicPr>
              <a:picLocks noChangeAspect="1"/>
            </p:cNvPicPr>
            <p:nvPr/>
          </p:nvPicPr>
          <p:blipFill>
            <a:blip r:embed="rId1"/>
            <a:stretch>
              <a:fillRect/>
            </a:stretch>
          </p:blipFill>
          <p:spPr>
            <a:xfrm>
              <a:off x="2083" y="2928"/>
              <a:ext cx="5852" cy="3141"/>
            </a:xfrm>
            <a:prstGeom prst="rect">
              <a:avLst/>
            </a:prstGeom>
          </p:spPr>
        </p:pic>
        <p:pic>
          <p:nvPicPr>
            <p:cNvPr id="10" name="图片 9"/>
            <p:cNvPicPr>
              <a:picLocks noChangeAspect="1"/>
            </p:cNvPicPr>
            <p:nvPr/>
          </p:nvPicPr>
          <p:blipFill>
            <a:blip r:embed="rId2"/>
            <a:stretch>
              <a:fillRect/>
            </a:stretch>
          </p:blipFill>
          <p:spPr>
            <a:xfrm>
              <a:off x="2083" y="6215"/>
              <a:ext cx="5864" cy="3093"/>
            </a:xfrm>
            <a:prstGeom prst="rect">
              <a:avLst/>
            </a:prstGeom>
          </p:spPr>
        </p:pic>
      </p:grpSp>
      <p:pic>
        <p:nvPicPr>
          <p:cNvPr id="6" name="图片 5"/>
          <p:cNvPicPr>
            <a:picLocks noChangeAspect="1"/>
          </p:cNvPicPr>
          <p:nvPr/>
        </p:nvPicPr>
        <p:blipFill>
          <a:blip r:embed="rId3"/>
          <a:stretch>
            <a:fillRect/>
          </a:stretch>
        </p:blipFill>
        <p:spPr>
          <a:xfrm>
            <a:off x="533400" y="2355850"/>
            <a:ext cx="7646035" cy="2145665"/>
          </a:xfrm>
          <a:prstGeom prst="rect">
            <a:avLst/>
          </a:prstGeom>
        </p:spPr>
      </p:pic>
      <p:sp>
        <p:nvSpPr>
          <p:cNvPr id="7" name="文本框 6"/>
          <p:cNvSpPr txBox="1"/>
          <p:nvPr/>
        </p:nvSpPr>
        <p:spPr>
          <a:xfrm>
            <a:off x="457200" y="4572000"/>
            <a:ext cx="7485380" cy="1076325"/>
          </a:xfrm>
          <a:prstGeom prst="rect">
            <a:avLst/>
          </a:prstGeom>
          <a:noFill/>
        </p:spPr>
        <p:txBody>
          <a:bodyPr wrap="square" rtlCol="0">
            <a:spAutoFit/>
          </a:bodyPr>
          <a:p>
            <a:r>
              <a:rPr lang="zh-CN" altLang="en-US" sz="1600">
                <a:solidFill>
                  <a:schemeClr val="accent1">
                    <a:lumMod val="60000"/>
                    <a:lumOff val="40000"/>
                  </a:schemeClr>
                </a:solidFill>
              </a:rPr>
              <a:t>结论：</a:t>
            </a:r>
            <a:r>
              <a:rPr lang="zh-CN" sz="1600">
                <a:solidFill>
                  <a:schemeClr val="accent1">
                    <a:lumMod val="60000"/>
                    <a:lumOff val="40000"/>
                  </a:schemeClr>
                </a:solidFill>
              </a:rPr>
              <a:t>在多个数据集上对比了本方法和</a:t>
            </a:r>
            <a:r>
              <a:rPr lang="en-US" altLang="zh-CN" sz="1600">
                <a:solidFill>
                  <a:schemeClr val="accent1">
                    <a:lumMod val="60000"/>
                    <a:lumOff val="40000"/>
                  </a:schemeClr>
                </a:solidFill>
              </a:rPr>
              <a:t>Ensemble,DDU,MSP</a:t>
            </a:r>
            <a:r>
              <a:rPr lang="zh-CN" altLang="en-US" sz="1600">
                <a:solidFill>
                  <a:schemeClr val="accent1">
                    <a:lumMod val="60000"/>
                    <a:lumOff val="40000"/>
                  </a:schemeClr>
                </a:solidFill>
              </a:rPr>
              <a:t>等不确定性建模方法</a:t>
            </a:r>
            <a:r>
              <a:rPr lang="zh-CN" sz="1600">
                <a:solidFill>
                  <a:schemeClr val="accent1">
                    <a:lumMod val="60000"/>
                    <a:lumOff val="40000"/>
                  </a:schemeClr>
                </a:solidFill>
              </a:rPr>
              <a:t>，在</a:t>
            </a:r>
            <a:r>
              <a:rPr lang="en-US" altLang="zh-CN" sz="1600">
                <a:solidFill>
                  <a:schemeClr val="accent1">
                    <a:lumMod val="60000"/>
                    <a:lumOff val="40000"/>
                  </a:schemeClr>
                </a:solidFill>
              </a:rPr>
              <a:t>OOD</a:t>
            </a:r>
            <a:r>
              <a:rPr lang="zh-CN" altLang="en-US" sz="1600">
                <a:solidFill>
                  <a:schemeClr val="accent1">
                    <a:lumMod val="60000"/>
                    <a:lumOff val="40000"/>
                  </a:schemeClr>
                </a:solidFill>
              </a:rPr>
              <a:t>检测任务上，</a:t>
            </a:r>
            <a:r>
              <a:rPr lang="zh-CN" sz="1600">
                <a:solidFill>
                  <a:schemeClr val="accent1">
                    <a:lumMod val="60000"/>
                    <a:lumOff val="40000"/>
                  </a:schemeClr>
                </a:solidFill>
                <a:sym typeface="+mn-ea"/>
              </a:rPr>
              <a:t>可以看到加入输入扰动后相</a:t>
            </a:r>
            <a:r>
              <a:rPr lang="zh-CN" sz="1600">
                <a:solidFill>
                  <a:schemeClr val="accent1">
                    <a:lumMod val="60000"/>
                    <a:lumOff val="40000"/>
                  </a:schemeClr>
                </a:solidFill>
              </a:rPr>
              <a:t>对</a:t>
            </a:r>
            <a:r>
              <a:rPr lang="en-US" altLang="zh-CN" sz="1600">
                <a:solidFill>
                  <a:schemeClr val="accent1">
                    <a:lumMod val="60000"/>
                    <a:lumOff val="40000"/>
                  </a:schemeClr>
                </a:solidFill>
              </a:rPr>
              <a:t>DDU</a:t>
            </a:r>
            <a:r>
              <a:rPr lang="zh-CN" altLang="en-US" sz="1600">
                <a:solidFill>
                  <a:schemeClr val="accent1">
                    <a:lumMod val="60000"/>
                    <a:lumOff val="40000"/>
                  </a:schemeClr>
                </a:solidFill>
              </a:rPr>
              <a:t>算法带来的的提升，并且在</a:t>
            </a:r>
            <a:r>
              <a:rPr lang="en-US" altLang="zh-CN" sz="1600">
                <a:solidFill>
                  <a:schemeClr val="accent1">
                    <a:lumMod val="60000"/>
                    <a:lumOff val="40000"/>
                  </a:schemeClr>
                </a:solidFill>
              </a:rPr>
              <a:t>MNIST/SVHN</a:t>
            </a:r>
            <a:r>
              <a:rPr lang="zh-CN" altLang="en-US" sz="1600">
                <a:solidFill>
                  <a:schemeClr val="accent1">
                    <a:lumMod val="60000"/>
                    <a:lumOff val="40000"/>
                  </a:schemeClr>
                </a:solidFill>
              </a:rPr>
              <a:t>两个数据集上超过了</a:t>
            </a:r>
            <a:r>
              <a:rPr lang="en-US" altLang="zh-CN" sz="1600">
                <a:solidFill>
                  <a:schemeClr val="accent1">
                    <a:lumMod val="60000"/>
                    <a:lumOff val="40000"/>
                  </a:schemeClr>
                </a:solidFill>
              </a:rPr>
              <a:t>Ensemble</a:t>
            </a:r>
            <a:r>
              <a:rPr lang="zh-CN" altLang="en-US" sz="1600">
                <a:solidFill>
                  <a:schemeClr val="accent1">
                    <a:lumMod val="60000"/>
                    <a:lumOff val="40000"/>
                  </a:schemeClr>
                </a:solidFill>
              </a:rPr>
              <a:t>算法，而本方法同时解决了</a:t>
            </a:r>
            <a:r>
              <a:rPr lang="en-US" altLang="zh-CN" sz="1600">
                <a:solidFill>
                  <a:schemeClr val="accent1">
                    <a:lumMod val="60000"/>
                    <a:lumOff val="40000"/>
                  </a:schemeClr>
                </a:solidFill>
              </a:rPr>
              <a:t>Ensemble</a:t>
            </a:r>
            <a:r>
              <a:rPr lang="zh-CN" altLang="en-US" sz="1600">
                <a:solidFill>
                  <a:schemeClr val="accent1">
                    <a:lumMod val="60000"/>
                    <a:lumOff val="40000"/>
                  </a:schemeClr>
                </a:solidFill>
              </a:rPr>
              <a:t>算法存储和计算复杂度高的难题</a:t>
            </a:r>
            <a:endParaRPr lang="zh-CN" altLang="en-US" sz="1600">
              <a:solidFill>
                <a:schemeClr val="accent1">
                  <a:lumMod val="60000"/>
                  <a:lumOff val="4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zh-CN" altLang="en-US"/>
          </a:p>
        </p:txBody>
      </p:sp>
      <p:sp>
        <p:nvSpPr>
          <p:cNvPr id="5" name="文本框 4"/>
          <p:cNvSpPr txBox="1"/>
          <p:nvPr/>
        </p:nvSpPr>
        <p:spPr>
          <a:xfrm>
            <a:off x="442595" y="1341120"/>
            <a:ext cx="10592435" cy="922020"/>
          </a:xfrm>
          <a:prstGeom prst="rect">
            <a:avLst/>
          </a:prstGeom>
          <a:noFill/>
        </p:spPr>
        <p:txBody>
          <a:bodyPr wrap="square" rtlCol="0">
            <a:spAutoFit/>
          </a:bodyPr>
          <a:p>
            <a:pPr marL="285750" indent="-285750">
              <a:buFont typeface="Wingdings" panose="05000000000000000000" charset="0"/>
              <a:buChar char=""/>
            </a:pPr>
            <a:r>
              <a:rPr lang="zh-CN" altLang="en-US" dirty="0">
                <a:sym typeface="+mn-ea"/>
              </a:rPr>
              <a:t>在对抗样本检测任务上，评估</a:t>
            </a:r>
            <a:r>
              <a:rPr lang="zh-CN" dirty="0">
                <a:sym typeface="+mn-ea"/>
              </a:rPr>
              <a:t>加入</a:t>
            </a:r>
            <a:r>
              <a:rPr lang="zh-CN" altLang="en-US" dirty="0">
                <a:sym typeface="+mn-ea"/>
              </a:rPr>
              <a:t>输入扰动后</a:t>
            </a:r>
            <a:r>
              <a:rPr lang="en-US" altLang="zh-CN" dirty="0">
                <a:latin typeface="+mn-ea"/>
                <a:cs typeface="+mn-ea"/>
                <a:sym typeface="+mn-ea"/>
              </a:rPr>
              <a:t>Uncertainty</a:t>
            </a:r>
            <a:r>
              <a:rPr lang="zh-CN" altLang="en-US" dirty="0">
                <a:sym typeface="+mn-ea"/>
              </a:rPr>
              <a:t>建模的效果</a:t>
            </a:r>
            <a:endParaRPr lang="zh-CN" altLang="en-US" dirty="0">
              <a:sym typeface="+mn-ea"/>
            </a:endParaRPr>
          </a:p>
          <a:p>
            <a:pPr marL="285750" indent="-285750">
              <a:buFont typeface="Wingdings" panose="05000000000000000000" charset="0"/>
              <a:buChar char=""/>
            </a:pPr>
            <a:endParaRPr lang="zh-CN" altLang="en-US" dirty="0">
              <a:sym typeface="+mn-ea"/>
            </a:endParaRPr>
          </a:p>
          <a:p>
            <a:pPr marL="285750" indent="-285750">
              <a:buFont typeface="Wingdings" panose="05000000000000000000" charset="0"/>
              <a:buChar char=""/>
            </a:pPr>
            <a:r>
              <a:rPr lang="zh-CN" altLang="en-US">
                <a:sym typeface="+mn-ea"/>
              </a:rPr>
              <a:t>实验中使用三种不同的攻击方式：</a:t>
            </a:r>
            <a:r>
              <a:rPr lang="en-US" altLang="zh-CN">
                <a:sym typeface="+mn-ea"/>
              </a:rPr>
              <a:t>FGSM/BIM/PGD</a:t>
            </a:r>
            <a:endParaRPr lang="en-US" altLang="zh-CN">
              <a:sym typeface="+mn-ea"/>
            </a:endParaRPr>
          </a:p>
        </p:txBody>
      </p:sp>
      <p:sp>
        <p:nvSpPr>
          <p:cNvPr id="4" name="文本框 3"/>
          <p:cNvSpPr txBox="1"/>
          <p:nvPr/>
        </p:nvSpPr>
        <p:spPr>
          <a:xfrm>
            <a:off x="5638800" y="3810000"/>
            <a:ext cx="6119495" cy="583565"/>
          </a:xfrm>
          <a:prstGeom prst="rect">
            <a:avLst/>
          </a:prstGeom>
          <a:noFill/>
        </p:spPr>
        <p:txBody>
          <a:bodyPr wrap="square" rtlCol="0">
            <a:spAutoFit/>
          </a:bodyPr>
          <a:p>
            <a:r>
              <a:rPr lang="zh-CN" altLang="en-US" sz="1600">
                <a:solidFill>
                  <a:schemeClr val="accent1">
                    <a:lumMod val="60000"/>
                    <a:lumOff val="40000"/>
                  </a:schemeClr>
                </a:solidFill>
              </a:rPr>
              <a:t>结论：实验结果显示，</a:t>
            </a:r>
            <a:r>
              <a:rPr lang="zh-CN" sz="1600">
                <a:solidFill>
                  <a:schemeClr val="accent1">
                    <a:lumMod val="60000"/>
                    <a:lumOff val="40000"/>
                  </a:schemeClr>
                </a:solidFill>
              </a:rPr>
              <a:t>加入输入扰动之后，计算的不确定性指标在对抗样本</a:t>
            </a:r>
            <a:r>
              <a:rPr lang="zh-CN" altLang="en-US" sz="1600">
                <a:solidFill>
                  <a:schemeClr val="accent1">
                    <a:lumMod val="60000"/>
                    <a:lumOff val="40000"/>
                  </a:schemeClr>
                </a:solidFill>
              </a:rPr>
              <a:t>检测任务上的显著提升，验证了本方法的有效性</a:t>
            </a:r>
            <a:endParaRPr lang="zh-CN" altLang="en-US" sz="1600">
              <a:solidFill>
                <a:schemeClr val="accent1">
                  <a:lumMod val="60000"/>
                  <a:lumOff val="40000"/>
                </a:schemeClr>
              </a:solidFill>
            </a:endParaRPr>
          </a:p>
        </p:txBody>
      </p:sp>
      <p:pic>
        <p:nvPicPr>
          <p:cNvPr id="6" name="图片 5"/>
          <p:cNvPicPr>
            <a:picLocks noChangeAspect="1"/>
          </p:cNvPicPr>
          <p:nvPr/>
        </p:nvPicPr>
        <p:blipFill>
          <a:blip r:embed="rId1"/>
          <a:stretch>
            <a:fillRect/>
          </a:stretch>
        </p:blipFill>
        <p:spPr>
          <a:xfrm>
            <a:off x="457200" y="2809240"/>
            <a:ext cx="5219700" cy="26193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zh-CN" altLang="en-US"/>
          </a:p>
        </p:txBody>
      </p:sp>
      <p:sp>
        <p:nvSpPr>
          <p:cNvPr id="5" name="文本框 4"/>
          <p:cNvSpPr txBox="1"/>
          <p:nvPr/>
        </p:nvSpPr>
        <p:spPr>
          <a:xfrm>
            <a:off x="442595" y="1341120"/>
            <a:ext cx="10592435" cy="922020"/>
          </a:xfrm>
          <a:prstGeom prst="rect">
            <a:avLst/>
          </a:prstGeom>
          <a:noFill/>
        </p:spPr>
        <p:txBody>
          <a:bodyPr wrap="square" rtlCol="0">
            <a:spAutoFit/>
          </a:bodyPr>
          <a:p>
            <a:pPr marL="285750" indent="-285750">
              <a:buFont typeface="Wingdings" panose="05000000000000000000" charset="0"/>
              <a:buChar char=""/>
            </a:pPr>
            <a:r>
              <a:rPr lang="zh-CN" dirty="0"/>
              <a:t>加入</a:t>
            </a:r>
            <a:r>
              <a:rPr lang="zh-CN" altLang="en-US" dirty="0">
                <a:sym typeface="+mn-ea"/>
              </a:rPr>
              <a:t>输入扰动后，在主动学习任务上评估</a:t>
            </a:r>
            <a:r>
              <a:rPr lang="en-US" altLang="zh-CN" dirty="0">
                <a:latin typeface="+mn-ea"/>
                <a:cs typeface="+mn-ea"/>
                <a:sym typeface="+mn-ea"/>
              </a:rPr>
              <a:t>Uncertainty</a:t>
            </a:r>
            <a:r>
              <a:rPr lang="zh-CN" altLang="en-US" dirty="0">
                <a:sym typeface="+mn-ea"/>
              </a:rPr>
              <a:t>建模的效果</a:t>
            </a:r>
            <a:endParaRPr lang="en-US" altLang="zh-CN" dirty="0">
              <a:sym typeface="+mn-ea"/>
            </a:endParaRPr>
          </a:p>
          <a:p>
            <a:pPr marL="285750" indent="-285750">
              <a:buFont typeface="Wingdings" panose="05000000000000000000" charset="0"/>
              <a:buChar char=""/>
            </a:pPr>
            <a:endParaRPr lang="en-US" altLang="zh-CN" dirty="0">
              <a:sym typeface="+mn-ea"/>
            </a:endParaRPr>
          </a:p>
          <a:p>
            <a:pPr marL="285750" indent="-285750">
              <a:buFont typeface="Wingdings" panose="05000000000000000000" charset="0"/>
              <a:buChar char=""/>
            </a:pPr>
            <a:r>
              <a:rPr lang="zh-CN" altLang="en-US" dirty="0">
                <a:sym typeface="+mn-ea"/>
              </a:rPr>
              <a:t>实验设置：</a:t>
            </a:r>
            <a:r>
              <a:rPr lang="en-US" altLang="zh-CN" dirty="0">
                <a:sym typeface="+mn-ea"/>
              </a:rPr>
              <a:t>50</a:t>
            </a:r>
            <a:r>
              <a:rPr lang="zh-CN" altLang="en-US" dirty="0">
                <a:sym typeface="+mn-ea"/>
              </a:rPr>
              <a:t>个初始训练样本，每次从候选池选取</a:t>
            </a:r>
            <a:r>
              <a:rPr lang="en-US" altLang="zh-CN" dirty="0">
                <a:sym typeface="+mn-ea"/>
              </a:rPr>
              <a:t>Uncertainty</a:t>
            </a:r>
            <a:r>
              <a:rPr lang="zh-CN" altLang="en-US" dirty="0">
                <a:sym typeface="+mn-ea"/>
              </a:rPr>
              <a:t>值高的</a:t>
            </a:r>
            <a:r>
              <a:rPr lang="en-US" altLang="zh-CN" dirty="0">
                <a:sym typeface="+mn-ea"/>
              </a:rPr>
              <a:t>20</a:t>
            </a:r>
            <a:r>
              <a:rPr lang="zh-CN" altLang="en-US" dirty="0">
                <a:sym typeface="+mn-ea"/>
              </a:rPr>
              <a:t>个样本加入训练集里</a:t>
            </a:r>
            <a:endParaRPr lang="zh-CN" altLang="en-US" dirty="0">
              <a:sym typeface="+mn-ea"/>
            </a:endParaRPr>
          </a:p>
        </p:txBody>
      </p:sp>
      <p:pic>
        <p:nvPicPr>
          <p:cNvPr id="6" name="图片 5"/>
          <p:cNvPicPr>
            <a:picLocks noChangeAspect="1"/>
          </p:cNvPicPr>
          <p:nvPr/>
        </p:nvPicPr>
        <p:blipFill>
          <a:blip r:embed="rId1"/>
          <a:stretch>
            <a:fillRect/>
          </a:stretch>
        </p:blipFill>
        <p:spPr>
          <a:xfrm>
            <a:off x="685800" y="2286000"/>
            <a:ext cx="5520690" cy="4178300"/>
          </a:xfrm>
          <a:prstGeom prst="rect">
            <a:avLst/>
          </a:prstGeom>
        </p:spPr>
      </p:pic>
      <p:sp>
        <p:nvSpPr>
          <p:cNvPr id="7" name="文本框 6"/>
          <p:cNvSpPr txBox="1"/>
          <p:nvPr/>
        </p:nvSpPr>
        <p:spPr>
          <a:xfrm>
            <a:off x="5638800" y="3810000"/>
            <a:ext cx="6119495" cy="583565"/>
          </a:xfrm>
          <a:prstGeom prst="rect">
            <a:avLst/>
          </a:prstGeom>
          <a:noFill/>
        </p:spPr>
        <p:txBody>
          <a:bodyPr wrap="square" rtlCol="0">
            <a:spAutoFit/>
          </a:bodyPr>
          <a:p>
            <a:r>
              <a:rPr lang="zh-CN" altLang="en-US" sz="1600">
                <a:solidFill>
                  <a:schemeClr val="accent1">
                    <a:lumMod val="60000"/>
                    <a:lumOff val="40000"/>
                  </a:schemeClr>
                </a:solidFill>
              </a:rPr>
              <a:t>结论：实验结果显示，</a:t>
            </a:r>
            <a:r>
              <a:rPr lang="zh-CN" sz="1600">
                <a:solidFill>
                  <a:schemeClr val="accent1">
                    <a:lumMod val="60000"/>
                    <a:lumOff val="40000"/>
                  </a:schemeClr>
                </a:solidFill>
              </a:rPr>
              <a:t>加入输入扰动之后，计算的不确定性指标在对抗样本</a:t>
            </a:r>
            <a:r>
              <a:rPr lang="zh-CN" altLang="en-US" sz="1600">
                <a:solidFill>
                  <a:schemeClr val="accent1">
                    <a:lumMod val="60000"/>
                    <a:lumOff val="40000"/>
                  </a:schemeClr>
                </a:solidFill>
              </a:rPr>
              <a:t>检测任务上的显著提升，验证了本方法的有效性</a:t>
            </a:r>
            <a:endParaRPr lang="zh-CN" altLang="en-US" sz="1600">
              <a:solidFill>
                <a:schemeClr val="accent1">
                  <a:lumMod val="60000"/>
                  <a:lumOff val="4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研究进展</a:t>
            </a:r>
            <a:endParaRPr lang="zh-CN" altLang="en-US"/>
          </a:p>
        </p:txBody>
      </p:sp>
      <p:sp>
        <p:nvSpPr>
          <p:cNvPr id="9" name="文本框 8"/>
          <p:cNvSpPr txBox="1"/>
          <p:nvPr/>
        </p:nvSpPr>
        <p:spPr>
          <a:xfrm>
            <a:off x="457200" y="4572000"/>
            <a:ext cx="11326495" cy="2306955"/>
          </a:xfrm>
          <a:prstGeom prst="rect">
            <a:avLst/>
          </a:prstGeom>
          <a:noFill/>
        </p:spPr>
        <p:txBody>
          <a:bodyPr wrap="square" rtlCol="0">
            <a:spAutoFit/>
          </a:bodyPr>
          <a:p>
            <a:r>
              <a:rPr lang="zh-CN" altLang="en-US" dirty="0">
                <a:solidFill>
                  <a:schemeClr val="accent1">
                    <a:lumMod val="60000"/>
                    <a:lumOff val="40000"/>
                  </a:schemeClr>
                </a:solidFill>
              </a:rPr>
              <a:t>结论</a:t>
            </a:r>
            <a:r>
              <a:rPr lang="en-US" altLang="zh-CN" dirty="0">
                <a:solidFill>
                  <a:schemeClr val="accent1">
                    <a:lumMod val="60000"/>
                    <a:lumOff val="40000"/>
                  </a:schemeClr>
                </a:solidFill>
              </a:rPr>
              <a:t>:   </a:t>
            </a:r>
            <a:r>
              <a:rPr lang="zh-CN" altLang="en-US" dirty="0">
                <a:solidFill>
                  <a:schemeClr val="accent1">
                    <a:lumMod val="60000"/>
                    <a:lumOff val="40000"/>
                  </a:schemeClr>
                </a:solidFill>
              </a:rPr>
              <a:t>特征维度较低时，使用</a:t>
            </a:r>
            <a:r>
              <a:rPr lang="en-US" altLang="zh-CN" dirty="0">
                <a:solidFill>
                  <a:schemeClr val="accent1">
                    <a:lumMod val="60000"/>
                    <a:lumOff val="40000"/>
                  </a:schemeClr>
                </a:solidFill>
              </a:rPr>
              <a:t>KDE</a:t>
            </a:r>
            <a:r>
              <a:rPr lang="zh-CN" altLang="en-US" dirty="0">
                <a:solidFill>
                  <a:schemeClr val="accent1">
                    <a:lumMod val="60000"/>
                    <a:lumOff val="40000"/>
                  </a:schemeClr>
                </a:solidFill>
              </a:rPr>
              <a:t>更好，但是维度高的时候，使用</a:t>
            </a:r>
            <a:r>
              <a:rPr lang="en-US" altLang="zh-CN" dirty="0">
                <a:solidFill>
                  <a:schemeClr val="accent1">
                    <a:lumMod val="60000"/>
                    <a:lumOff val="40000"/>
                  </a:schemeClr>
                </a:solidFill>
              </a:rPr>
              <a:t>GMM</a:t>
            </a:r>
            <a:r>
              <a:rPr lang="zh-CN" altLang="en-US" dirty="0">
                <a:solidFill>
                  <a:schemeClr val="accent1">
                    <a:lumMod val="60000"/>
                    <a:lumOff val="40000"/>
                  </a:schemeClr>
                </a:solidFill>
              </a:rPr>
              <a:t>更好</a:t>
            </a:r>
            <a:endParaRPr lang="zh-CN" altLang="en-US" dirty="0">
              <a:solidFill>
                <a:schemeClr val="accent1">
                  <a:lumMod val="60000"/>
                  <a:lumOff val="40000"/>
                </a:schemeClr>
              </a:solidFill>
            </a:endParaRPr>
          </a:p>
          <a:p>
            <a:endParaRPr lang="en-US" altLang="zh-CN" dirty="0">
              <a:solidFill>
                <a:schemeClr val="accent1">
                  <a:lumMod val="60000"/>
                  <a:lumOff val="40000"/>
                </a:schemeClr>
              </a:solidFill>
            </a:endParaRPr>
          </a:p>
          <a:p>
            <a:r>
              <a:rPr lang="zh-CN" altLang="en-US" dirty="0">
                <a:solidFill>
                  <a:schemeClr val="accent1">
                    <a:lumMod val="60000"/>
                    <a:lumOff val="40000"/>
                  </a:schemeClr>
                </a:solidFill>
              </a:rPr>
              <a:t>原因分析：</a:t>
            </a:r>
            <a:r>
              <a:rPr dirty="0">
                <a:solidFill>
                  <a:schemeClr val="accent1">
                    <a:lumMod val="60000"/>
                    <a:lumOff val="40000"/>
                  </a:schemeClr>
                </a:solidFill>
              </a:rPr>
              <a:t>低维空间中，KDE不假设数据分布形状，能够充分利用每个点，有效地捕捉数据的局部结构和分布，但是随着数据维度的增加，样本数据密度变得更加稀疏，发生维度灾难(Curse of Dimensionality）</a:t>
            </a:r>
            <a:endParaRPr dirty="0">
              <a:solidFill>
                <a:schemeClr val="accent1">
                  <a:lumMod val="60000"/>
                  <a:lumOff val="40000"/>
                </a:schemeClr>
              </a:solidFill>
            </a:endParaRPr>
          </a:p>
          <a:p>
            <a:r>
              <a:rPr dirty="0">
                <a:solidFill>
                  <a:schemeClr val="accent1">
                    <a:lumMod val="60000"/>
                    <a:lumOff val="40000"/>
                  </a:schemeClr>
                </a:solidFill>
              </a:rPr>
              <a:t>在高维数据中GMM具有数据符合高斯分布的先验假设，每个高斯分布可以通过调整均值、方差和权重来捕捉数据的分布，在高维空间中通过依赖协方差矩阵建模维度间的关系，能够适当捕捉相关性，不会受到高维稀疏性的强烈影响。</a:t>
            </a:r>
            <a:endParaRPr lang="en-US" altLang="zh-CN" dirty="0">
              <a:solidFill>
                <a:schemeClr val="accent1"/>
              </a:solidFill>
            </a:endParaRPr>
          </a:p>
          <a:p>
            <a:endParaRPr lang="zh-CN" altLang="en-US" dirty="0">
              <a:solidFill>
                <a:schemeClr val="accent1"/>
              </a:solidFill>
            </a:endParaRPr>
          </a:p>
        </p:txBody>
      </p:sp>
      <p:sp>
        <p:nvSpPr>
          <p:cNvPr id="5" name="文本框 4"/>
          <p:cNvSpPr txBox="1"/>
          <p:nvPr/>
        </p:nvSpPr>
        <p:spPr>
          <a:xfrm>
            <a:off x="304800" y="1144270"/>
            <a:ext cx="10592435" cy="922020"/>
          </a:xfrm>
          <a:prstGeom prst="rect">
            <a:avLst/>
          </a:prstGeom>
          <a:noFill/>
        </p:spPr>
        <p:txBody>
          <a:bodyPr wrap="square" rtlCol="0">
            <a:spAutoFit/>
          </a:bodyPr>
          <a:p>
            <a:pPr marL="285750" indent="-285750">
              <a:buFont typeface="Wingdings" panose="05000000000000000000" charset="0"/>
              <a:buChar char=""/>
            </a:pPr>
            <a:r>
              <a:rPr lang="zh-CN" altLang="en-US" dirty="0"/>
              <a:t>对比不同的概率密度建模方式：</a:t>
            </a:r>
            <a:r>
              <a:rPr lang="en-US" altLang="zh-CN" dirty="0"/>
              <a:t>GMM vs KDE</a:t>
            </a:r>
            <a:endParaRPr lang="en-US" altLang="zh-CN" dirty="0"/>
          </a:p>
          <a:p>
            <a:pPr marL="285750" indent="-285750">
              <a:buFont typeface="Wingdings" panose="05000000000000000000" charset="0"/>
              <a:buChar char=""/>
            </a:pPr>
            <a:r>
              <a:rPr lang="zh-CN" altLang="en-US" dirty="0"/>
              <a:t>实验设置</a:t>
            </a:r>
            <a:r>
              <a:rPr lang="en-US" altLang="zh-CN" dirty="0"/>
              <a:t>:ResNet50,</a:t>
            </a:r>
            <a:r>
              <a:rPr lang="zh-CN" altLang="en-US" dirty="0"/>
              <a:t>在</a:t>
            </a:r>
            <a:r>
              <a:rPr lang="en-US" altLang="zh-CN" dirty="0"/>
              <a:t>CIFAR10</a:t>
            </a:r>
            <a:r>
              <a:rPr lang="zh-CN" altLang="en-US" dirty="0"/>
              <a:t>上训练，在不同数据集上做</a:t>
            </a:r>
            <a:r>
              <a:rPr lang="en-US" altLang="zh-CN" dirty="0"/>
              <a:t>OOD</a:t>
            </a:r>
            <a:r>
              <a:rPr lang="zh-CN" altLang="en-US" dirty="0"/>
              <a:t>检测任务评估</a:t>
            </a:r>
            <a:endParaRPr lang="en-US" altLang="zh-CN" dirty="0"/>
          </a:p>
          <a:p>
            <a:pPr marL="285750" indent="-285750">
              <a:buFont typeface="Wingdings" panose="05000000000000000000" charset="0"/>
              <a:buChar char=""/>
            </a:pPr>
            <a:endParaRPr lang="zh-CN" altLang="en-US" dirty="0"/>
          </a:p>
        </p:txBody>
      </p:sp>
      <p:pic>
        <p:nvPicPr>
          <p:cNvPr id="6" name="图片 5"/>
          <p:cNvPicPr>
            <a:picLocks noChangeAspect="1"/>
          </p:cNvPicPr>
          <p:nvPr/>
        </p:nvPicPr>
        <p:blipFill>
          <a:blip r:embed="rId1"/>
          <a:stretch>
            <a:fillRect/>
          </a:stretch>
        </p:blipFill>
        <p:spPr>
          <a:xfrm>
            <a:off x="2895600" y="1828800"/>
            <a:ext cx="5193665" cy="27082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03535" y="1213941"/>
            <a:ext cx="10867089" cy="1476375"/>
          </a:xfrm>
          <a:prstGeom prst="rect">
            <a:avLst/>
          </a:prstGeom>
          <a:noFill/>
        </p:spPr>
        <p:txBody>
          <a:bodyPr wrap="square" rtlCol="0">
            <a:spAutoFit/>
          </a:bodyPr>
          <a:lstStyle/>
          <a:p>
            <a:pPr marL="285750" indent="-285750">
              <a:buFont typeface="Wingdings" panose="05000000000000000000" charset="0"/>
              <a:buChar char=""/>
            </a:pPr>
            <a:r>
              <a:rPr lang="en-US" altLang="zh-CN" dirty="0">
                <a:sym typeface="+mn-ea"/>
              </a:rPr>
              <a:t>Motivation: </a:t>
            </a:r>
            <a:r>
              <a:rPr lang="zh-CN" altLang="en-US" dirty="0">
                <a:sym typeface="+mn-ea"/>
              </a:rPr>
              <a:t> </a:t>
            </a:r>
            <a:r>
              <a:rPr lang="zh-CN" altLang="en-US" dirty="0"/>
              <a:t>加入辅助</a:t>
            </a:r>
            <a:r>
              <a:rPr lang="en-US" altLang="zh-CN" dirty="0"/>
              <a:t>Loss</a:t>
            </a:r>
            <a:r>
              <a:rPr lang="zh-CN" altLang="en-US" dirty="0"/>
              <a:t>联合训练，</a:t>
            </a:r>
            <a:r>
              <a:rPr lang="zh-CN" altLang="en-US" dirty="0">
                <a:sym typeface="+mn-ea"/>
              </a:rPr>
              <a:t>提高在嵌入空间上高维特征的</a:t>
            </a:r>
            <a:r>
              <a:rPr lang="zh-CN" altLang="en-US" dirty="0">
                <a:highlight>
                  <a:srgbClr val="FFFF00"/>
                </a:highlight>
                <a:sym typeface="+mn-ea"/>
              </a:rPr>
              <a:t>类内紧密性</a:t>
            </a:r>
            <a:r>
              <a:rPr lang="zh-CN" altLang="en-US" dirty="0">
                <a:sym typeface="+mn-ea"/>
              </a:rPr>
              <a:t>和</a:t>
            </a:r>
            <a:r>
              <a:rPr lang="zh-CN" altLang="en-US" dirty="0">
                <a:highlight>
                  <a:srgbClr val="FFFF00"/>
                </a:highlight>
                <a:sym typeface="+mn-ea"/>
              </a:rPr>
              <a:t>类间可分性</a:t>
            </a:r>
            <a:endParaRPr lang="en-US" altLang="zh-CN" dirty="0">
              <a:highlight>
                <a:srgbClr val="FFFF00"/>
              </a:highlight>
              <a:sym typeface="+mn-ea"/>
            </a:endParaRPr>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dirty="0"/>
              <a:t>训练时</a:t>
            </a:r>
            <a:r>
              <a:rPr lang="en-US" altLang="zh-CN" dirty="0"/>
              <a:t>: Loss=</a:t>
            </a:r>
            <a:r>
              <a:rPr lang="en-US" altLang="zh-CN" dirty="0" err="1"/>
              <a:t>CrossEntropyLoss+</a:t>
            </a:r>
            <a:r>
              <a:rPr lang="en-US" altLang="zh-CN" dirty="0" err="1">
                <a:latin typeface="文鼎ＰＬ简中楷" panose="02010600030101010101" charset="-122"/>
                <a:ea typeface="文鼎ＰＬ简中楷" panose="02010600030101010101" charset="-122"/>
              </a:rPr>
              <a:t>λ</a:t>
            </a:r>
            <a:r>
              <a:rPr lang="en-US" altLang="zh-CN" dirty="0">
                <a:latin typeface="文鼎ＰＬ简中楷" panose="02010600030101010101" charset="-122"/>
                <a:ea typeface="文鼎ＰＬ简中楷" panose="02010600030101010101" charset="-122"/>
              </a:rPr>
              <a:t>* </a:t>
            </a:r>
            <a:r>
              <a:rPr lang="en-US" altLang="zh-CN" sz="1800" dirty="0" err="1"/>
              <a:t>AuxLoss </a:t>
            </a:r>
            <a:endParaRPr lang="en-US" altLang="zh-CN" sz="1800" dirty="0" err="1"/>
          </a:p>
          <a:p>
            <a:pPr marL="285750" indent="-285750">
              <a:buFont typeface="Wingdings" panose="05000000000000000000" charset="0"/>
              <a:buChar char=""/>
            </a:pPr>
            <a:endParaRPr lang="en-US" altLang="zh-CN" sz="1800" dirty="0" err="1"/>
          </a:p>
          <a:p>
            <a:pPr marL="0" indent="0">
              <a:buFont typeface="Wingdings" panose="05000000000000000000" charset="0"/>
              <a:buNone/>
            </a:pPr>
            <a:endParaRPr lang="zh-CN" altLang="en-US" dirty="0"/>
          </a:p>
        </p:txBody>
      </p:sp>
      <p:grpSp>
        <p:nvGrpSpPr>
          <p:cNvPr id="11" name="组合 10"/>
          <p:cNvGrpSpPr/>
          <p:nvPr/>
        </p:nvGrpSpPr>
        <p:grpSpPr>
          <a:xfrm>
            <a:off x="540703" y="2895834"/>
            <a:ext cx="4615180" cy="1665605"/>
            <a:chOff x="2159" y="4843"/>
            <a:chExt cx="7268" cy="2623"/>
          </a:xfrm>
        </p:grpSpPr>
        <p:pic>
          <p:nvPicPr>
            <p:cNvPr id="2" name="图片 1"/>
            <p:cNvPicPr>
              <a:picLocks noChangeAspect="1"/>
            </p:cNvPicPr>
            <p:nvPr/>
          </p:nvPicPr>
          <p:blipFill>
            <a:blip r:embed="rId1"/>
            <a:stretch>
              <a:fillRect/>
            </a:stretch>
          </p:blipFill>
          <p:spPr>
            <a:xfrm>
              <a:off x="4297" y="6191"/>
              <a:ext cx="5130" cy="1275"/>
            </a:xfrm>
            <a:prstGeom prst="rect">
              <a:avLst/>
            </a:prstGeom>
          </p:spPr>
        </p:pic>
        <p:sp>
          <p:nvSpPr>
            <p:cNvPr id="4" name="文本框 3"/>
            <p:cNvSpPr txBox="1"/>
            <p:nvPr/>
          </p:nvSpPr>
          <p:spPr>
            <a:xfrm>
              <a:off x="2159" y="6485"/>
              <a:ext cx="2138" cy="580"/>
            </a:xfrm>
            <a:prstGeom prst="rect">
              <a:avLst/>
            </a:prstGeom>
            <a:noFill/>
          </p:spPr>
          <p:txBody>
            <a:bodyPr wrap="none" rtlCol="0">
              <a:spAutoFit/>
            </a:bodyPr>
            <a:lstStyle/>
            <a:p>
              <a:pPr algn="l"/>
              <a:r>
                <a:rPr lang="en-US" altLang="zh-CN" dirty="0" err="1">
                  <a:sym typeface="+mn-ea"/>
                </a:rPr>
                <a:t>AuxLoss</a:t>
              </a:r>
              <a:r>
                <a:rPr lang="zh-CN" altLang="en-US" dirty="0" err="1">
                  <a:sym typeface="+mn-ea"/>
                </a:rPr>
                <a:t>的</a:t>
              </a:r>
              <a:r>
                <a:rPr lang="en-US" altLang="zh-CN" dirty="0" err="1">
                  <a:sym typeface="+mn-ea"/>
                </a:rPr>
                <a:t> </a:t>
              </a:r>
              <a:r>
                <a:rPr lang="en-US" altLang="zh-CN" dirty="0"/>
                <a:t>:</a:t>
              </a:r>
              <a:endParaRPr lang="en-US" altLang="zh-CN" dirty="0"/>
            </a:p>
          </p:txBody>
        </p:sp>
        <p:pic>
          <p:nvPicPr>
            <p:cNvPr id="7" name="图片 6"/>
            <p:cNvPicPr>
              <a:picLocks noChangeAspect="1"/>
            </p:cNvPicPr>
            <p:nvPr/>
          </p:nvPicPr>
          <p:blipFill>
            <a:blip r:embed="rId2"/>
            <a:stretch>
              <a:fillRect/>
            </a:stretch>
          </p:blipFill>
          <p:spPr>
            <a:xfrm>
              <a:off x="4307" y="4843"/>
              <a:ext cx="3465" cy="1230"/>
            </a:xfrm>
            <a:prstGeom prst="rect">
              <a:avLst/>
            </a:prstGeom>
          </p:spPr>
        </p:pic>
        <p:sp>
          <p:nvSpPr>
            <p:cNvPr id="9" name="文本框 8"/>
            <p:cNvSpPr txBox="1"/>
            <p:nvPr/>
          </p:nvSpPr>
          <p:spPr>
            <a:xfrm>
              <a:off x="2159" y="5166"/>
              <a:ext cx="2028" cy="580"/>
            </a:xfrm>
            <a:prstGeom prst="rect">
              <a:avLst/>
            </a:prstGeom>
            <a:noFill/>
          </p:spPr>
          <p:txBody>
            <a:bodyPr wrap="none" rtlCol="0">
              <a:spAutoFit/>
            </a:bodyPr>
            <a:lstStyle/>
            <a:p>
              <a:r>
                <a:rPr lang="en-US" altLang="zh-CN"/>
                <a:t>CenterLoss:</a:t>
              </a:r>
              <a:endParaRPr lang="en-US" altLang="zh-CN"/>
            </a:p>
          </p:txBody>
        </p:sp>
      </p:grpSp>
      <p:sp>
        <p:nvSpPr>
          <p:cNvPr id="3" name="标题 2"/>
          <p:cNvSpPr>
            <a:spLocks noGrp="1"/>
          </p:cNvSpPr>
          <p:nvPr>
            <p:ph type="title"/>
          </p:nvPr>
        </p:nvSpPr>
        <p:spPr/>
        <p:txBody>
          <a:bodyPr/>
          <a:p>
            <a:r>
              <a:rPr lang="zh-CN" altLang="en-US"/>
              <a:t>研究进展</a:t>
            </a:r>
            <a:endParaRPr lang="zh-CN" altLang="en-US"/>
          </a:p>
        </p:txBody>
      </p:sp>
      <p:grpSp>
        <p:nvGrpSpPr>
          <p:cNvPr id="15" name="组合 14"/>
          <p:cNvGrpSpPr/>
          <p:nvPr/>
        </p:nvGrpSpPr>
        <p:grpSpPr>
          <a:xfrm>
            <a:off x="5181600" y="2819400"/>
            <a:ext cx="6792698" cy="2121187"/>
            <a:chOff x="1229" y="3700"/>
            <a:chExt cx="16932" cy="4584"/>
          </a:xfrm>
        </p:grpSpPr>
        <p:grpSp>
          <p:nvGrpSpPr>
            <p:cNvPr id="16" name="组合 15"/>
            <p:cNvGrpSpPr/>
            <p:nvPr/>
          </p:nvGrpSpPr>
          <p:grpSpPr>
            <a:xfrm>
              <a:off x="1229" y="3700"/>
              <a:ext cx="16932" cy="3928"/>
              <a:chOff x="1432" y="4164"/>
              <a:chExt cx="16932" cy="3928"/>
            </a:xfrm>
          </p:grpSpPr>
          <p:pic>
            <p:nvPicPr>
              <p:cNvPr id="17" name="图片 16" descr="epoch_40"/>
              <p:cNvPicPr>
                <a:picLocks noChangeAspect="1"/>
              </p:cNvPicPr>
              <p:nvPr/>
            </p:nvPicPr>
            <p:blipFill>
              <a:blip r:embed="rId3"/>
              <a:stretch>
                <a:fillRect/>
              </a:stretch>
            </p:blipFill>
            <p:spPr>
              <a:xfrm>
                <a:off x="7212" y="4164"/>
                <a:ext cx="5345" cy="3928"/>
              </a:xfrm>
              <a:prstGeom prst="rect">
                <a:avLst/>
              </a:prstGeom>
            </p:spPr>
          </p:pic>
          <p:pic>
            <p:nvPicPr>
              <p:cNvPr id="18" name="图片 17" descr="epoch_2"/>
              <p:cNvPicPr>
                <a:picLocks noChangeAspect="1"/>
              </p:cNvPicPr>
              <p:nvPr/>
            </p:nvPicPr>
            <p:blipFill>
              <a:blip r:embed="rId4"/>
              <a:stretch>
                <a:fillRect/>
              </a:stretch>
            </p:blipFill>
            <p:spPr>
              <a:xfrm>
                <a:off x="1432" y="4164"/>
                <a:ext cx="5237" cy="3904"/>
              </a:xfrm>
              <a:prstGeom prst="rect">
                <a:avLst/>
              </a:prstGeom>
            </p:spPr>
          </p:pic>
          <p:pic>
            <p:nvPicPr>
              <p:cNvPr id="19" name="图片 18" descr="epoch_40"/>
              <p:cNvPicPr>
                <a:picLocks noChangeAspect="1"/>
              </p:cNvPicPr>
              <p:nvPr/>
            </p:nvPicPr>
            <p:blipFill>
              <a:blip r:embed="rId5"/>
              <a:stretch>
                <a:fillRect/>
              </a:stretch>
            </p:blipFill>
            <p:spPr>
              <a:xfrm>
                <a:off x="13283" y="4304"/>
                <a:ext cx="5081" cy="3788"/>
              </a:xfrm>
              <a:prstGeom prst="rect">
                <a:avLst/>
              </a:prstGeom>
            </p:spPr>
          </p:pic>
        </p:grpSp>
        <p:grpSp>
          <p:nvGrpSpPr>
            <p:cNvPr id="20" name="组合 19"/>
            <p:cNvGrpSpPr/>
            <p:nvPr/>
          </p:nvGrpSpPr>
          <p:grpSpPr>
            <a:xfrm>
              <a:off x="2949" y="7453"/>
              <a:ext cx="15008" cy="831"/>
              <a:chOff x="3177" y="8491"/>
              <a:chExt cx="15008" cy="831"/>
            </a:xfrm>
          </p:grpSpPr>
          <p:sp>
            <p:nvSpPr>
              <p:cNvPr id="21" name="文本框 20"/>
              <p:cNvSpPr txBox="1"/>
              <p:nvPr/>
            </p:nvSpPr>
            <p:spPr>
              <a:xfrm>
                <a:off x="3177" y="8492"/>
                <a:ext cx="1895" cy="796"/>
              </a:xfrm>
              <a:prstGeom prst="rect">
                <a:avLst/>
              </a:prstGeom>
              <a:noFill/>
            </p:spPr>
            <p:txBody>
              <a:bodyPr wrap="square" rtlCol="0">
                <a:spAutoFit/>
              </a:bodyPr>
              <a:p>
                <a:r>
                  <a:rPr lang="zh-CN" altLang="en-US" dirty="0"/>
                  <a:t>原始</a:t>
                </a:r>
                <a:endParaRPr lang="zh-CN" altLang="en-US" dirty="0"/>
              </a:p>
            </p:txBody>
          </p:sp>
          <p:sp>
            <p:nvSpPr>
              <p:cNvPr id="22" name="文本框 21"/>
              <p:cNvSpPr txBox="1"/>
              <p:nvPr/>
            </p:nvSpPr>
            <p:spPr>
              <a:xfrm>
                <a:off x="8231" y="8491"/>
                <a:ext cx="3099" cy="796"/>
              </a:xfrm>
              <a:prstGeom prst="rect">
                <a:avLst/>
              </a:prstGeom>
              <a:noFill/>
            </p:spPr>
            <p:txBody>
              <a:bodyPr wrap="square" rtlCol="0">
                <a:spAutoFit/>
              </a:bodyPr>
              <a:p>
                <a:r>
                  <a:rPr lang="en-US" altLang="zh-CN" dirty="0" err="1"/>
                  <a:t>CenterLoss</a:t>
                </a:r>
                <a:endParaRPr lang="en-US" altLang="zh-CN" dirty="0"/>
              </a:p>
            </p:txBody>
          </p:sp>
          <p:sp>
            <p:nvSpPr>
              <p:cNvPr id="23" name="文本框 22"/>
              <p:cNvSpPr txBox="1"/>
              <p:nvPr/>
            </p:nvSpPr>
            <p:spPr>
              <a:xfrm>
                <a:off x="15133" y="8526"/>
                <a:ext cx="3052" cy="796"/>
              </a:xfrm>
              <a:prstGeom prst="rect">
                <a:avLst/>
              </a:prstGeom>
              <a:noFill/>
            </p:spPr>
            <p:txBody>
              <a:bodyPr wrap="square" rtlCol="0">
                <a:spAutoFit/>
              </a:bodyPr>
              <a:p>
                <a:r>
                  <a:rPr lang="en-US" altLang="zh-CN" dirty="0"/>
                  <a:t>AuxLoss</a:t>
                </a:r>
                <a:endParaRPr lang="en-US" altLang="zh-CN" dirty="0"/>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42595" y="1205380"/>
            <a:ext cx="10592435" cy="922020"/>
          </a:xfrm>
          <a:prstGeom prst="rect">
            <a:avLst/>
          </a:prstGeom>
          <a:noFill/>
        </p:spPr>
        <p:txBody>
          <a:bodyPr wrap="square" rtlCol="0">
            <a:spAutoFit/>
          </a:bodyPr>
          <a:lstStyle/>
          <a:p>
            <a:pPr marL="285750" indent="-285750">
              <a:buFont typeface="Wingdings" panose="05000000000000000000" charset="0"/>
              <a:buChar char=""/>
            </a:pPr>
            <a:r>
              <a:rPr lang="zh-CN" altLang="en-US" dirty="0"/>
              <a:t>加入辅助</a:t>
            </a:r>
            <a:r>
              <a:rPr lang="en-US" altLang="zh-CN" dirty="0"/>
              <a:t>Loss</a:t>
            </a:r>
            <a:r>
              <a:rPr lang="zh-CN" altLang="en-US" dirty="0"/>
              <a:t>联合训练，</a:t>
            </a:r>
            <a:r>
              <a:rPr lang="zh-CN" altLang="en-US" dirty="0">
                <a:sym typeface="+mn-ea"/>
              </a:rPr>
              <a:t>提高在嵌入空间上</a:t>
            </a:r>
            <a:r>
              <a:rPr lang="zh-CN" altLang="en-US" dirty="0"/>
              <a:t>高维特征的类内紧密性和类间可分性</a:t>
            </a:r>
            <a:endParaRPr lang="en-US" altLang="zh-CN" dirty="0"/>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dirty="0">
                <a:sym typeface="+mn-ea"/>
              </a:rPr>
              <a:t>实验设置</a:t>
            </a:r>
            <a:r>
              <a:rPr lang="en-US" altLang="zh-CN" dirty="0">
                <a:sym typeface="+mn-ea"/>
              </a:rPr>
              <a:t>: VGG16+CIFAR10, </a:t>
            </a:r>
            <a:r>
              <a:rPr lang="zh-CN" altLang="en-US" dirty="0">
                <a:sym typeface="+mn-ea"/>
              </a:rPr>
              <a:t>高维特征</a:t>
            </a:r>
            <a:r>
              <a:rPr lang="en-US" altLang="zh-CN" dirty="0">
                <a:sym typeface="+mn-ea"/>
              </a:rPr>
              <a:t>Dimension=512</a:t>
            </a:r>
            <a:r>
              <a:rPr lang="zh-CN" altLang="en-US" dirty="0">
                <a:sym typeface="+mn-ea"/>
              </a:rPr>
              <a:t>，</a:t>
            </a:r>
            <a:r>
              <a:rPr lang="en-US" altLang="zh-CN" dirty="0">
                <a:sym typeface="+mn-ea"/>
              </a:rPr>
              <a:t>TSNE</a:t>
            </a:r>
            <a:r>
              <a:rPr lang="zh-CN" altLang="en-US" dirty="0">
                <a:sym typeface="+mn-ea"/>
              </a:rPr>
              <a:t>可视化</a:t>
            </a:r>
            <a:endParaRPr lang="zh-CN" altLang="en-US" dirty="0"/>
          </a:p>
        </p:txBody>
      </p:sp>
      <p:pic>
        <p:nvPicPr>
          <p:cNvPr id="2" name="图片 1" descr="stats_290"/>
          <p:cNvPicPr>
            <a:picLocks noChangeAspect="1"/>
          </p:cNvPicPr>
          <p:nvPr/>
        </p:nvPicPr>
        <p:blipFill>
          <a:blip r:embed="rId1"/>
          <a:stretch>
            <a:fillRect/>
          </a:stretch>
        </p:blipFill>
        <p:spPr>
          <a:xfrm>
            <a:off x="1219200" y="2362200"/>
            <a:ext cx="4225290" cy="2089150"/>
          </a:xfrm>
          <a:prstGeom prst="rect">
            <a:avLst/>
          </a:prstGeom>
        </p:spPr>
      </p:pic>
      <p:pic>
        <p:nvPicPr>
          <p:cNvPr id="3" name="图片 2" descr="stats_299"/>
          <p:cNvPicPr>
            <a:picLocks noChangeAspect="1"/>
          </p:cNvPicPr>
          <p:nvPr/>
        </p:nvPicPr>
        <p:blipFill>
          <a:blip r:embed="rId2"/>
          <a:stretch>
            <a:fillRect/>
          </a:stretch>
        </p:blipFill>
        <p:spPr>
          <a:xfrm>
            <a:off x="6324600" y="2338705"/>
            <a:ext cx="4320540" cy="2136140"/>
          </a:xfrm>
          <a:prstGeom prst="rect">
            <a:avLst/>
          </a:prstGeom>
        </p:spPr>
      </p:pic>
      <p:sp>
        <p:nvSpPr>
          <p:cNvPr id="8" name="文本框 7"/>
          <p:cNvSpPr txBox="1"/>
          <p:nvPr/>
        </p:nvSpPr>
        <p:spPr>
          <a:xfrm>
            <a:off x="2712720" y="4792980"/>
            <a:ext cx="1883410" cy="368300"/>
          </a:xfrm>
          <a:prstGeom prst="rect">
            <a:avLst/>
          </a:prstGeom>
          <a:noFill/>
        </p:spPr>
        <p:txBody>
          <a:bodyPr wrap="square" rtlCol="0">
            <a:spAutoFit/>
          </a:bodyPr>
          <a:lstStyle/>
          <a:p>
            <a:r>
              <a:rPr lang="zh-CN" altLang="en-US"/>
              <a:t>加辅助</a:t>
            </a:r>
            <a:r>
              <a:rPr lang="en-US" altLang="zh-CN"/>
              <a:t>loss</a:t>
            </a:r>
            <a:r>
              <a:rPr lang="zh-CN" altLang="en-US"/>
              <a:t>前</a:t>
            </a:r>
            <a:endParaRPr lang="zh-CN" altLang="en-US"/>
          </a:p>
        </p:txBody>
      </p:sp>
      <p:sp>
        <p:nvSpPr>
          <p:cNvPr id="9" name="文本框 8"/>
          <p:cNvSpPr txBox="1"/>
          <p:nvPr/>
        </p:nvSpPr>
        <p:spPr>
          <a:xfrm>
            <a:off x="7426325" y="4792980"/>
            <a:ext cx="1760220" cy="368300"/>
          </a:xfrm>
          <a:prstGeom prst="rect">
            <a:avLst/>
          </a:prstGeom>
          <a:noFill/>
        </p:spPr>
        <p:txBody>
          <a:bodyPr wrap="square" rtlCol="0">
            <a:spAutoFit/>
          </a:bodyPr>
          <a:lstStyle/>
          <a:p>
            <a:r>
              <a:rPr lang="zh-CN" altLang="en-US">
                <a:sym typeface="+mn-ea"/>
              </a:rPr>
              <a:t>加辅助</a:t>
            </a:r>
            <a:r>
              <a:rPr lang="en-US" altLang="zh-CN">
                <a:sym typeface="+mn-ea"/>
              </a:rPr>
              <a:t>loss</a:t>
            </a:r>
            <a:r>
              <a:rPr lang="zh-CN" altLang="en-US">
                <a:sym typeface="+mn-ea"/>
              </a:rPr>
              <a:t>后</a:t>
            </a:r>
            <a:endParaRPr lang="zh-CN" altLang="en-US">
              <a:sym typeface="+mn-ea"/>
            </a:endParaRPr>
          </a:p>
        </p:txBody>
      </p:sp>
      <p:sp>
        <p:nvSpPr>
          <p:cNvPr id="10" name="文本框 9"/>
          <p:cNvSpPr txBox="1"/>
          <p:nvPr/>
        </p:nvSpPr>
        <p:spPr>
          <a:xfrm>
            <a:off x="1017905" y="5371465"/>
            <a:ext cx="10378440" cy="645160"/>
          </a:xfrm>
          <a:prstGeom prst="rect">
            <a:avLst/>
          </a:prstGeom>
          <a:noFill/>
        </p:spPr>
        <p:txBody>
          <a:bodyPr wrap="square" rtlCol="0">
            <a:spAutoFit/>
          </a:bodyPr>
          <a:lstStyle/>
          <a:p>
            <a:r>
              <a:rPr lang="zh-CN" altLang="en-US" dirty="0">
                <a:solidFill>
                  <a:schemeClr val="accent1">
                    <a:lumMod val="60000"/>
                    <a:lumOff val="40000"/>
                  </a:schemeClr>
                </a:solidFill>
              </a:rPr>
              <a:t>结论</a:t>
            </a:r>
            <a:r>
              <a:rPr lang="en-US" altLang="zh-CN" dirty="0">
                <a:solidFill>
                  <a:schemeClr val="accent1">
                    <a:lumMod val="60000"/>
                    <a:lumOff val="40000"/>
                  </a:schemeClr>
                </a:solidFill>
              </a:rPr>
              <a:t>:</a:t>
            </a:r>
            <a:r>
              <a:rPr lang="zh-CN" altLang="en-US" dirty="0">
                <a:solidFill>
                  <a:schemeClr val="accent1">
                    <a:lumMod val="60000"/>
                    <a:lumOff val="40000"/>
                  </a:schemeClr>
                </a:solidFill>
                <a:sym typeface="+mn-ea"/>
              </a:rPr>
              <a:t>训练时</a:t>
            </a:r>
            <a:r>
              <a:rPr lang="zh-CN" altLang="en-US" dirty="0">
                <a:solidFill>
                  <a:schemeClr val="accent1">
                    <a:lumMod val="60000"/>
                    <a:lumOff val="40000"/>
                  </a:schemeClr>
                </a:solidFill>
              </a:rPr>
              <a:t>加入辅助损失函数之后，模型抽取的特征在高维空间上分布更紧密，进而使高维特征的概率密度建模不确定性的结果更准确</a:t>
            </a:r>
            <a:endParaRPr lang="zh-CN" altLang="en-US" dirty="0">
              <a:solidFill>
                <a:schemeClr val="accent1">
                  <a:lumMod val="60000"/>
                  <a:lumOff val="40000"/>
                </a:schemeClr>
              </a:solidFill>
            </a:endParaRPr>
          </a:p>
        </p:txBody>
      </p:sp>
      <p:sp>
        <p:nvSpPr>
          <p:cNvPr id="4" name="标题 3"/>
          <p:cNvSpPr>
            <a:spLocks noGrp="1"/>
          </p:cNvSpPr>
          <p:nvPr>
            <p:ph type="title"/>
          </p:nvPr>
        </p:nvSpPr>
        <p:spPr/>
        <p:txBody>
          <a:bodyPr/>
          <a:p>
            <a:r>
              <a:rPr lang="zh-CN" altLang="en-US"/>
              <a:t>研究进展</a:t>
            </a:r>
            <a:endParaRPr lang="zh-CN" altLang="en-US"/>
          </a:p>
        </p:txBody>
      </p:sp>
      <p:cxnSp>
        <p:nvCxnSpPr>
          <p:cNvPr id="6" name="直接箭头连接符 5"/>
          <p:cNvCxnSpPr>
            <a:stCxn id="3" idx="1"/>
            <a:endCxn id="2" idx="3"/>
          </p:cNvCxnSpPr>
          <p:nvPr/>
        </p:nvCxnSpPr>
        <p:spPr>
          <a:xfrm flipH="1">
            <a:off x="5444490" y="3406775"/>
            <a:ext cx="880110" cy="0"/>
          </a:xfrm>
          <a:prstGeom prst="straightConnector1">
            <a:avLst/>
          </a:prstGeom>
          <a:ln w="25400">
            <a:solidFill>
              <a:srgbClr val="FF0000"/>
            </a:solidFill>
            <a:headEnd type="triangle" w="lg" len="med"/>
            <a:tailEnd type="none" w="lg" len="med"/>
          </a:ln>
        </p:spPr>
        <p:style>
          <a:lnRef idx="1">
            <a:schemeClr val="accent2"/>
          </a:lnRef>
          <a:fillRef idx="0">
            <a:schemeClr val="accent2"/>
          </a:fillRef>
          <a:effectRef idx="0">
            <a:schemeClr val="accent2"/>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06500" y="1208480"/>
            <a:ext cx="10592435" cy="1198880"/>
          </a:xfrm>
          <a:prstGeom prst="rect">
            <a:avLst/>
          </a:prstGeom>
          <a:noFill/>
        </p:spPr>
        <p:txBody>
          <a:bodyPr wrap="square" rtlCol="0">
            <a:spAutoFit/>
          </a:bodyPr>
          <a:lstStyle/>
          <a:p>
            <a:pPr marL="285750" indent="-285750">
              <a:buFont typeface="Wingdings" panose="05000000000000000000" charset="0"/>
              <a:buChar char=""/>
            </a:pPr>
            <a:r>
              <a:rPr lang="zh-CN" altLang="en-US" dirty="0"/>
              <a:t>训练时加入</a:t>
            </a:r>
            <a:r>
              <a:rPr lang="en-US" altLang="zh-CN" dirty="0" err="1">
                <a:sym typeface="+mn-ea"/>
              </a:rPr>
              <a:t>AuxLoss</a:t>
            </a:r>
            <a:r>
              <a:rPr lang="zh-CN" altLang="en-US" dirty="0"/>
              <a:t>，</a:t>
            </a:r>
            <a:r>
              <a:rPr lang="en-US" altLang="zh-CN" dirty="0"/>
              <a:t>CrossEntropyLoss</a:t>
            </a:r>
            <a:r>
              <a:rPr lang="zh-CN" altLang="en-US" dirty="0"/>
              <a:t>和</a:t>
            </a:r>
            <a:r>
              <a:rPr lang="en-US" altLang="zh-CN" dirty="0" err="1">
                <a:sym typeface="+mn-ea"/>
              </a:rPr>
              <a:t>AuxLoss</a:t>
            </a:r>
            <a:r>
              <a:rPr lang="zh-CN" altLang="en-US" dirty="0"/>
              <a:t>一起联合训练</a:t>
            </a:r>
            <a:endParaRPr lang="en-US" altLang="zh-CN" dirty="0"/>
          </a:p>
          <a:p>
            <a:pPr marL="285750" indent="-285750">
              <a:buFont typeface="Wingdings" panose="05000000000000000000" charset="0"/>
              <a:buChar char=""/>
            </a:pPr>
            <a:endParaRPr lang="en-US" altLang="zh-CN" dirty="0"/>
          </a:p>
          <a:p>
            <a:pPr marL="285750" indent="-285750">
              <a:buFont typeface="Wingdings" panose="05000000000000000000" charset="0"/>
              <a:buChar char=""/>
            </a:pPr>
            <a:r>
              <a:rPr lang="zh-CN" altLang="en-US" dirty="0"/>
              <a:t>实验设置：在</a:t>
            </a:r>
            <a:r>
              <a:rPr lang="en-US" altLang="zh-CN" dirty="0"/>
              <a:t>OOD</a:t>
            </a:r>
            <a:r>
              <a:rPr lang="zh-CN" altLang="en-US" dirty="0"/>
              <a:t>检测任务上，评估训练时加入辅助损失函数后，高维特征概率密度建模模型不确定性的效果</a:t>
            </a:r>
            <a:endParaRPr lang="zh-CN" altLang="en-US" dirty="0"/>
          </a:p>
        </p:txBody>
      </p:sp>
      <p:pic>
        <p:nvPicPr>
          <p:cNvPr id="2" name="图片 1"/>
          <p:cNvPicPr>
            <a:picLocks noChangeAspect="1"/>
          </p:cNvPicPr>
          <p:nvPr/>
        </p:nvPicPr>
        <p:blipFill>
          <a:blip r:embed="rId1"/>
          <a:stretch>
            <a:fillRect/>
          </a:stretch>
        </p:blipFill>
        <p:spPr>
          <a:xfrm>
            <a:off x="1219200" y="2667000"/>
            <a:ext cx="5048250" cy="3048000"/>
          </a:xfrm>
          <a:prstGeom prst="rect">
            <a:avLst/>
          </a:prstGeom>
        </p:spPr>
      </p:pic>
      <p:sp>
        <p:nvSpPr>
          <p:cNvPr id="3" name="标题 2"/>
          <p:cNvSpPr>
            <a:spLocks noGrp="1"/>
          </p:cNvSpPr>
          <p:nvPr>
            <p:ph type="title"/>
          </p:nvPr>
        </p:nvSpPr>
        <p:spPr/>
        <p:txBody>
          <a:bodyPr/>
          <a:p>
            <a:r>
              <a:rPr lang="zh-CN" altLang="en-US"/>
              <a:t>研究进展</a:t>
            </a:r>
            <a:endParaRPr lang="zh-CN" altLang="en-US"/>
          </a:p>
        </p:txBody>
      </p:sp>
      <p:sp>
        <p:nvSpPr>
          <p:cNvPr id="10" name="文本框 9"/>
          <p:cNvSpPr txBox="1"/>
          <p:nvPr/>
        </p:nvSpPr>
        <p:spPr>
          <a:xfrm>
            <a:off x="6553200" y="3352800"/>
            <a:ext cx="4984750" cy="1198880"/>
          </a:xfrm>
          <a:prstGeom prst="rect">
            <a:avLst/>
          </a:prstGeom>
          <a:noFill/>
        </p:spPr>
        <p:txBody>
          <a:bodyPr wrap="square" rtlCol="0">
            <a:spAutoFit/>
          </a:bodyPr>
          <a:p>
            <a:r>
              <a:rPr lang="zh-CN" altLang="en-US" dirty="0">
                <a:solidFill>
                  <a:schemeClr val="accent1">
                    <a:lumMod val="60000"/>
                    <a:lumOff val="40000"/>
                  </a:schemeClr>
                </a:solidFill>
              </a:rPr>
              <a:t>结论</a:t>
            </a:r>
            <a:r>
              <a:rPr lang="en-US" altLang="zh-CN" dirty="0">
                <a:solidFill>
                  <a:schemeClr val="accent1">
                    <a:lumMod val="60000"/>
                    <a:lumOff val="40000"/>
                  </a:schemeClr>
                </a:solidFill>
              </a:rPr>
              <a:t>:</a:t>
            </a:r>
            <a:r>
              <a:rPr lang="zh-CN" altLang="en-US" dirty="0">
                <a:solidFill>
                  <a:schemeClr val="accent1">
                    <a:lumMod val="60000"/>
                    <a:lumOff val="40000"/>
                  </a:schemeClr>
                </a:solidFill>
              </a:rPr>
              <a:t>训练时加入辅助损失函数，计算出来的不确定性指标在</a:t>
            </a:r>
            <a:r>
              <a:rPr lang="en-US" altLang="zh-CN" dirty="0">
                <a:solidFill>
                  <a:schemeClr val="accent1">
                    <a:lumMod val="60000"/>
                    <a:lumOff val="40000"/>
                  </a:schemeClr>
                </a:solidFill>
              </a:rPr>
              <a:t>OOD</a:t>
            </a:r>
            <a:r>
              <a:rPr lang="zh-CN" altLang="en-US" dirty="0">
                <a:solidFill>
                  <a:schemeClr val="accent1">
                    <a:lumMod val="60000"/>
                    <a:lumOff val="40000"/>
                  </a:schemeClr>
                </a:solidFill>
              </a:rPr>
              <a:t>检测任务上表现更好，验证了训练时加入本方法提出的损失函数，能更好的建模模型不确定性</a:t>
            </a:r>
            <a:endParaRPr lang="zh-CN" altLang="en-US" dirty="0">
              <a:solidFill>
                <a:schemeClr val="accent1">
                  <a:lumMod val="60000"/>
                  <a:lumOff val="40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06500" y="1208480"/>
            <a:ext cx="10592435" cy="2030095"/>
          </a:xfrm>
          <a:prstGeom prst="rect">
            <a:avLst/>
          </a:prstGeom>
          <a:noFill/>
        </p:spPr>
        <p:txBody>
          <a:bodyPr wrap="square" rtlCol="0">
            <a:spAutoFit/>
          </a:bodyPr>
          <a:lstStyle/>
          <a:p>
            <a:pPr marL="285750" indent="-285750">
              <a:buFont typeface="Wingdings" panose="05000000000000000000" charset="0"/>
              <a:buChar char=""/>
            </a:pPr>
            <a:r>
              <a:rPr lang="zh-CN" dirty="0"/>
              <a:t>补充关于加入辅助损失函数联合训练的实验，在更多任务（如对抗样本检测）评估对不确定性的建模效果</a:t>
            </a:r>
            <a:endParaRPr lang="zh-CN" dirty="0"/>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dirty="0"/>
              <a:t>使用高维特征的概率密度建模神经网络模型不确定性，维度太高时进一步使用</a:t>
            </a:r>
            <a:r>
              <a:rPr lang="en-US" altLang="zh-CN" dirty="0"/>
              <a:t>PCA</a:t>
            </a:r>
            <a:r>
              <a:rPr lang="zh-CN" altLang="en-US" dirty="0"/>
              <a:t>降维的方式，提高建模效率</a:t>
            </a:r>
            <a:endParaRPr lang="zh-CN" altLang="en-US" dirty="0"/>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dirty="0"/>
              <a:t>整理数据，撰写毕业论文</a:t>
            </a:r>
            <a:endParaRPr lang="zh-CN" dirty="0"/>
          </a:p>
        </p:txBody>
      </p:sp>
      <p:sp>
        <p:nvSpPr>
          <p:cNvPr id="3" name="标题 2"/>
          <p:cNvSpPr>
            <a:spLocks noGrp="1"/>
          </p:cNvSpPr>
          <p:nvPr>
            <p:ph type="title"/>
          </p:nvPr>
        </p:nvSpPr>
        <p:spPr/>
        <p:txBody>
          <a:bodyPr/>
          <a:p>
            <a:r>
              <a:rPr lang="zh-CN" altLang="en-US"/>
              <a:t>后续工作</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38700" y="2209800"/>
            <a:ext cx="2514600" cy="1885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my-tutorial">
  <a:themeElements>
    <a:clrScheme name="自定义 1">
      <a:dk1>
        <a:srgbClr val="000000"/>
      </a:dk1>
      <a:lt1>
        <a:sysClr val="window" lastClr="FFFFFF"/>
      </a:lt1>
      <a:dk2>
        <a:srgbClr val="2A4A75"/>
      </a:dk2>
      <a:lt2>
        <a:srgbClr val="DEF5FA"/>
      </a:lt2>
      <a:accent1>
        <a:srgbClr val="1C314E"/>
      </a:accent1>
      <a:accent2>
        <a:srgbClr val="EB641B"/>
      </a:accent2>
      <a:accent3>
        <a:srgbClr val="DA1F28"/>
      </a:accent3>
      <a:accent4>
        <a:srgbClr val="39639D"/>
      </a:accent4>
      <a:accent5>
        <a:srgbClr val="474B78"/>
      </a:accent5>
      <a:accent6>
        <a:srgbClr val="7D3C4A"/>
      </a:accent6>
      <a:hlink>
        <a:srgbClr val="FF8119"/>
      </a:hlink>
      <a:folHlink>
        <a:srgbClr val="44B9E8"/>
      </a:folHlink>
    </a:clrScheme>
    <a:fontScheme name="自定义 3">
      <a:majorFont>
        <a:latin typeface="Helvetica"/>
        <a:ea typeface="微软雅黑"/>
        <a:cs typeface=""/>
      </a:majorFont>
      <a:minorFont>
        <a:latin typeface="Cambria"/>
        <a:ea typeface="微软雅黑"/>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wrap="none">
        <a:spAutoFit/>
      </a:bodyPr>
      <a:lstStyle>
        <a:defPPr>
          <a:defRPr sz="2400" dirty="0"/>
        </a:defPPr>
      </a:lstStyle>
    </a:spDef>
    <a:lnDef>
      <a:spPr>
        <a:ln w="25400">
          <a:solidFill>
            <a:srgbClr val="FF0000"/>
          </a:solidFill>
          <a:headEnd type="stealth" w="lg" len="med"/>
          <a:tailEnd type="none" w="lg" len="med"/>
        </a:ln>
      </a:spPr>
      <a:bodyPr/>
      <a:lstStyle/>
      <a:style>
        <a:lnRef idx="1">
          <a:schemeClr val="accent2"/>
        </a:lnRef>
        <a:fillRef idx="0">
          <a:schemeClr val="accent2"/>
        </a:fillRef>
        <a:effectRef idx="0">
          <a:schemeClr val="accent2"/>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3384</Words>
  <Application>WPS 演示</Application>
  <PresentationFormat>宽屏</PresentationFormat>
  <Paragraphs>210</Paragraphs>
  <Slides>22</Slides>
  <Notes>1</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22</vt:i4>
      </vt:variant>
    </vt:vector>
  </HeadingPairs>
  <TitlesOfParts>
    <vt:vector size="46" baseType="lpstr">
      <vt:lpstr>Arial</vt:lpstr>
      <vt:lpstr>宋体</vt:lpstr>
      <vt:lpstr>Wingdings</vt:lpstr>
      <vt:lpstr>Nimbus Roman No9 L</vt:lpstr>
      <vt:lpstr>Cambria</vt:lpstr>
      <vt:lpstr>Calibri</vt:lpstr>
      <vt:lpstr>DejaVu Sans</vt:lpstr>
      <vt:lpstr>Wingdings 3</vt:lpstr>
      <vt:lpstr>Wingdings 3</vt:lpstr>
      <vt:lpstr>Caladea</vt:lpstr>
      <vt:lpstr>华文楷体</vt:lpstr>
      <vt:lpstr>Droid Sans Fallback</vt:lpstr>
      <vt:lpstr>Times New Roman</vt:lpstr>
      <vt:lpstr>汉仪雪君体简</vt:lpstr>
      <vt:lpstr>文鼎ＰＬ简中楷</vt:lpstr>
      <vt:lpstr>OPPOSans M</vt:lpstr>
      <vt:lpstr>微软雅黑</vt:lpstr>
      <vt:lpstr>Wingdings</vt:lpstr>
      <vt:lpstr>宋体</vt:lpstr>
      <vt:lpstr>Arial Unicode MS</vt:lpstr>
      <vt:lpstr>Helvetica</vt:lpstr>
      <vt:lpstr>Comfortaa Light</vt:lpstr>
      <vt:lpstr>微软雅黑</vt:lpstr>
      <vt:lpstr>my-tutorial</vt:lpstr>
      <vt:lpstr>基于高维特征概率密度建模的模型不确定性的研究</vt:lpstr>
      <vt:lpstr>■ 背景介绍      ■ 研究现状   ■ 研究进展   ■ 后续工作</vt:lpstr>
      <vt:lpstr>背景介绍</vt:lpstr>
      <vt:lpstr>背景介绍</vt:lpstr>
      <vt:lpstr>研究现状</vt:lpstr>
      <vt:lpstr>研究现状</vt:lpstr>
      <vt:lpstr>研究进展</vt:lpstr>
      <vt:lpstr>研究进展</vt:lpstr>
      <vt:lpstr>研究进展</vt:lpstr>
      <vt:lpstr>研究进展</vt:lpstr>
      <vt:lpstr>研究进展</vt:lpstr>
      <vt:lpstr>研究进展</vt:lpstr>
      <vt:lpstr>研究进展</vt:lpstr>
      <vt:lpstr>研究进展</vt:lpstr>
      <vt:lpstr>研究进展</vt:lpstr>
      <vt:lpstr>研究进展</vt:lpstr>
      <vt:lpstr>研究进展</vt:lpstr>
      <vt:lpstr>研究进展</vt:lpstr>
      <vt:lpstr>研究进展</vt:lpstr>
      <vt:lpstr>研究进展</vt:lpstr>
      <vt:lpstr>后续工作</vt:lpstr>
      <vt:lpstr>PowerPoint 演示文稿</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Branding Roadmap Template</dc:title>
  <dc:creator>Xipeng Qiu</dc:creator>
  <cp:lastModifiedBy>buyizhiyou</cp:lastModifiedBy>
  <cp:revision>3617</cp:revision>
  <dcterms:created xsi:type="dcterms:W3CDTF">2024-12-27T03:42:16Z</dcterms:created>
  <dcterms:modified xsi:type="dcterms:W3CDTF">2024-12-27T03:42:16Z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2052-11.1.0.11664</vt:lpwstr>
  </property>
</Properties>
</file>